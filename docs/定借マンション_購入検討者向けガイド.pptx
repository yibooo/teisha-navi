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45"/>
        </a:solidFill>
      </p:bgPr>
    </p:bg>
    <p:spTree>
      <p:nvGrpSpPr>
        <p:cNvPr id="1" name=""/>
        <p:cNvGrpSpPr/>
        <p:nvPr/>
      </p:nvGrpSpPr>
      <p:grpSpPr>
        <a:xfrm>
          <a:off x="0" y="0"/>
          <a:ext cx="0" cy="0"/>
          <a:chOff x="0" y="0"/>
          <a:chExt cx="0" cy="0"/>
        </a:xfrm>
      </p:grpSpPr>
      <p:sp>
        <p:nvSpPr>
          <p:cNvPr id="2" name="Shape 0"/>
          <p:cNvSpPr/>
          <p:nvPr/>
        </p:nvSpPr>
        <p:spPr>
          <a:xfrm>
            <a:off x="5943600" y="1828800"/>
            <a:ext cx="5486400" cy="5486400"/>
          </a:xfrm>
          <a:prstGeom prst="ellipse">
            <a:avLst/>
          </a:prstGeom>
          <a:solidFill>
            <a:srgbClr val="028090">
              <a:alpha val="25000"/>
            </a:srgbClr>
          </a:solidFill>
          <a:ln w="12700">
            <a:solidFill>
              <a:srgbClr val="028090">
                <a:alpha val="25000"/>
              </a:srgbClr>
            </a:solidFill>
            <a:prstDash val="solid"/>
          </a:ln>
        </p:spPr>
      </p:sp>
      <p:sp>
        <p:nvSpPr>
          <p:cNvPr id="3" name="Shape 1"/>
          <p:cNvSpPr/>
          <p:nvPr/>
        </p:nvSpPr>
        <p:spPr>
          <a:xfrm>
            <a:off x="-1371600" y="-1371600"/>
            <a:ext cx="4114800" cy="4114800"/>
          </a:xfrm>
          <a:prstGeom prst="ellipse">
            <a:avLst/>
          </a:prstGeom>
          <a:solidFill>
            <a:srgbClr val="00A896">
              <a:alpha val="15000"/>
            </a:srgbClr>
          </a:solidFill>
          <a:ln w="12700">
            <a:solidFill>
              <a:srgbClr val="00A896">
                <a:alpha val="15000"/>
              </a:srgbClr>
            </a:solidFill>
            <a:prstDash val="solid"/>
          </a:ln>
        </p:spPr>
      </p:sp>
      <p:sp>
        <p:nvSpPr>
          <p:cNvPr id="4" name="Shape 2"/>
          <p:cNvSpPr/>
          <p:nvPr/>
        </p:nvSpPr>
        <p:spPr>
          <a:xfrm>
            <a:off x="457200" y="457200"/>
            <a:ext cx="54864" cy="4114800"/>
          </a:xfrm>
          <a:prstGeom prst="rect">
            <a:avLst/>
          </a:prstGeom>
          <a:solidFill>
            <a:srgbClr val="00A896"/>
          </a:solidFill>
          <a:ln w="12700">
            <a:solidFill>
              <a:srgbClr val="00A896"/>
            </a:solidFill>
            <a:prstDash val="solid"/>
          </a:ln>
        </p:spPr>
      </p:sp>
      <p:sp>
        <p:nvSpPr>
          <p:cNvPr id="5" name="Text 3"/>
          <p:cNvSpPr/>
          <p:nvPr/>
        </p:nvSpPr>
        <p:spPr>
          <a:xfrm>
            <a:off x="685800" y="594360"/>
            <a:ext cx="7315200" cy="365760"/>
          </a:xfrm>
          <a:prstGeom prst="rect">
            <a:avLst/>
          </a:prstGeom>
          <a:noFill/>
          <a:ln/>
        </p:spPr>
        <p:txBody>
          <a:bodyPr wrap="square" rtlCol="0" anchor="ctr"/>
          <a:lstStyle/>
          <a:p>
            <a:pPr indent="0" marL="0">
              <a:buNone/>
            </a:pPr>
            <a:r>
              <a:rPr lang="en-US" sz="1200" spc="300" kern="0" dirty="0">
                <a:solidFill>
                  <a:srgbClr val="00A896"/>
                </a:solidFill>
                <a:latin typeface="Meiryo" pitchFamily="34" charset="0"/>
                <a:ea typeface="Meiryo" pitchFamily="34" charset="-122"/>
                <a:cs typeface="Meiryo" pitchFamily="34" charset="-120"/>
              </a:rPr>
              <a:t>購入検討者向け ガイドブック</a:t>
            </a:r>
            <a:endParaRPr lang="en-US" sz="1200" dirty="0"/>
          </a:p>
        </p:txBody>
      </p:sp>
      <p:sp>
        <p:nvSpPr>
          <p:cNvPr id="6" name="Text 4"/>
          <p:cNvSpPr/>
          <p:nvPr/>
        </p:nvSpPr>
        <p:spPr>
          <a:xfrm>
            <a:off x="685800" y="1005840"/>
            <a:ext cx="8229600" cy="777240"/>
          </a:xfrm>
          <a:prstGeom prst="rect">
            <a:avLst/>
          </a:prstGeom>
          <a:noFill/>
          <a:ln/>
        </p:spPr>
        <p:txBody>
          <a:bodyPr wrap="square" rtlCol="0" anchor="ctr"/>
          <a:lstStyle/>
          <a:p>
            <a:pPr indent="0" marL="0">
              <a:buNone/>
            </a:pPr>
            <a:r>
              <a:rPr lang="en-US" sz="3600" b="1" dirty="0">
                <a:solidFill>
                  <a:srgbClr val="FFFFFF"/>
                </a:solidFill>
                <a:latin typeface="Meiryo" pitchFamily="34" charset="0"/>
                <a:ea typeface="Meiryo" pitchFamily="34" charset="-122"/>
                <a:cs typeface="Meiryo" pitchFamily="34" charset="-120"/>
              </a:rPr>
              <a:t>定期借地権付マンション</a:t>
            </a:r>
            <a:endParaRPr lang="en-US" sz="3600" dirty="0"/>
          </a:p>
        </p:txBody>
      </p:sp>
      <p:sp>
        <p:nvSpPr>
          <p:cNvPr id="7" name="Text 5"/>
          <p:cNvSpPr/>
          <p:nvPr/>
        </p:nvSpPr>
        <p:spPr>
          <a:xfrm>
            <a:off x="685800" y="1737360"/>
            <a:ext cx="8229600" cy="640080"/>
          </a:xfrm>
          <a:prstGeom prst="rect">
            <a:avLst/>
          </a:prstGeom>
          <a:noFill/>
          <a:ln/>
        </p:spPr>
        <p:txBody>
          <a:bodyPr wrap="square" rtlCol="0" anchor="ctr"/>
          <a:lstStyle/>
          <a:p>
            <a:pPr indent="0" marL="0">
              <a:buNone/>
            </a:pPr>
            <a:r>
              <a:rPr lang="en-US" sz="2800" dirty="0">
                <a:solidFill>
                  <a:srgbClr val="00A896"/>
                </a:solidFill>
                <a:latin typeface="Meiryo" pitchFamily="34" charset="0"/>
                <a:ea typeface="Meiryo" pitchFamily="34" charset="-122"/>
                <a:cs typeface="Meiryo" pitchFamily="34" charset="-120"/>
              </a:rPr>
              <a:t>購入ガイド</a:t>
            </a:r>
            <a:endParaRPr lang="en-US" sz="2800" dirty="0"/>
          </a:p>
        </p:txBody>
      </p:sp>
      <p:sp>
        <p:nvSpPr>
          <p:cNvPr id="8" name="Shape 6"/>
          <p:cNvSpPr/>
          <p:nvPr/>
        </p:nvSpPr>
        <p:spPr>
          <a:xfrm>
            <a:off x="685800" y="2514600"/>
            <a:ext cx="4572000" cy="45720"/>
          </a:xfrm>
          <a:prstGeom prst="rect">
            <a:avLst/>
          </a:prstGeom>
          <a:solidFill>
            <a:srgbClr val="00A896">
              <a:alpha val="50000"/>
            </a:srgbClr>
          </a:solidFill>
          <a:ln w="12700">
            <a:solidFill>
              <a:srgbClr val="00A896">
                <a:alpha val="50000"/>
              </a:srgbClr>
            </a:solidFill>
            <a:prstDash val="solid"/>
          </a:ln>
        </p:spPr>
      </p:sp>
      <p:sp>
        <p:nvSpPr>
          <p:cNvPr id="9" name="Text 7"/>
          <p:cNvSpPr/>
          <p:nvPr/>
        </p:nvSpPr>
        <p:spPr>
          <a:xfrm>
            <a:off x="685800" y="2651760"/>
            <a:ext cx="7315200" cy="365760"/>
          </a:xfrm>
          <a:prstGeom prst="rect">
            <a:avLst/>
          </a:prstGeom>
          <a:noFill/>
          <a:ln/>
        </p:spPr>
        <p:txBody>
          <a:bodyPr wrap="square" rtlCol="0" anchor="ctr"/>
          <a:lstStyle/>
          <a:p>
            <a:pPr indent="0" marL="0">
              <a:buNone/>
            </a:pPr>
            <a:r>
              <a:rPr lang="en-US" sz="1400" i="1" dirty="0">
                <a:solidFill>
                  <a:srgbClr val="A7D4D8"/>
                </a:solidFill>
                <a:latin typeface="Meiryo" pitchFamily="34" charset="0"/>
                <a:ea typeface="Meiryo" pitchFamily="34" charset="-122"/>
                <a:cs typeface="Meiryo" pitchFamily="34" charset="-120"/>
              </a:rPr>
              <a:t>仕組み・メリット・注意点・費用・Q&amp;Aをわかりやすく解説</a:t>
            </a:r>
            <a:endParaRPr lang="en-US" sz="1400" dirty="0"/>
          </a:p>
        </p:txBody>
      </p:sp>
      <p:sp>
        <p:nvSpPr>
          <p:cNvPr id="10" name="Shape 8"/>
          <p:cNvSpPr/>
          <p:nvPr/>
        </p:nvSpPr>
        <p:spPr>
          <a:xfrm>
            <a:off x="685800" y="3200400"/>
            <a:ext cx="1005840" cy="347472"/>
          </a:xfrm>
          <a:prstGeom prst="roundRect">
            <a:avLst>
              <a:gd name="adj" fmla="val 26316"/>
            </a:avLst>
          </a:prstGeom>
          <a:solidFill>
            <a:srgbClr val="028090">
              <a:alpha val="60000"/>
            </a:srgbClr>
          </a:solidFill>
          <a:ln w="12700">
            <a:solidFill>
              <a:srgbClr val="00A896">
                <a:alpha val="80000"/>
              </a:srgbClr>
            </a:solidFill>
            <a:prstDash val="solid"/>
          </a:ln>
        </p:spPr>
      </p:sp>
      <p:sp>
        <p:nvSpPr>
          <p:cNvPr id="11" name="Text 9"/>
          <p:cNvSpPr/>
          <p:nvPr/>
        </p:nvSpPr>
        <p:spPr>
          <a:xfrm>
            <a:off x="685800" y="3218688"/>
            <a:ext cx="1005840" cy="320040"/>
          </a:xfrm>
          <a:prstGeom prst="rect">
            <a:avLst/>
          </a:prstGeom>
          <a:noFill/>
          <a:ln/>
        </p:spPr>
        <p:txBody>
          <a:bodyPr wrap="square" rtlCol="0" anchor="ctr"/>
          <a:lstStyle/>
          <a:p>
            <a:pPr algn="ctr" indent="0" marL="0">
              <a:buNone/>
            </a:pPr>
            <a:r>
              <a:rPr lang="en-US" sz="1000" dirty="0">
                <a:solidFill>
                  <a:srgbClr val="FFFFFF"/>
                </a:solidFill>
                <a:latin typeface="Meiryo" pitchFamily="34" charset="0"/>
                <a:ea typeface="Meiryo" pitchFamily="34" charset="-122"/>
                <a:cs typeface="Meiryo" pitchFamily="34" charset="-120"/>
              </a:rPr>
              <a:t>仕組み</a:t>
            </a:r>
            <a:endParaRPr lang="en-US" sz="1000" dirty="0"/>
          </a:p>
        </p:txBody>
      </p:sp>
      <p:sp>
        <p:nvSpPr>
          <p:cNvPr id="12" name="Shape 10"/>
          <p:cNvSpPr/>
          <p:nvPr/>
        </p:nvSpPr>
        <p:spPr>
          <a:xfrm>
            <a:off x="1828800" y="3200400"/>
            <a:ext cx="1005840" cy="347472"/>
          </a:xfrm>
          <a:prstGeom prst="roundRect">
            <a:avLst>
              <a:gd name="adj" fmla="val 26316"/>
            </a:avLst>
          </a:prstGeom>
          <a:solidFill>
            <a:srgbClr val="028090">
              <a:alpha val="60000"/>
            </a:srgbClr>
          </a:solidFill>
          <a:ln w="12700">
            <a:solidFill>
              <a:srgbClr val="00A896">
                <a:alpha val="80000"/>
              </a:srgbClr>
            </a:solidFill>
            <a:prstDash val="solid"/>
          </a:ln>
        </p:spPr>
      </p:sp>
      <p:sp>
        <p:nvSpPr>
          <p:cNvPr id="13" name="Text 11"/>
          <p:cNvSpPr/>
          <p:nvPr/>
        </p:nvSpPr>
        <p:spPr>
          <a:xfrm>
            <a:off x="1828800" y="3218688"/>
            <a:ext cx="1005840" cy="320040"/>
          </a:xfrm>
          <a:prstGeom prst="rect">
            <a:avLst/>
          </a:prstGeom>
          <a:noFill/>
          <a:ln/>
        </p:spPr>
        <p:txBody>
          <a:bodyPr wrap="square" rtlCol="0" anchor="ctr"/>
          <a:lstStyle/>
          <a:p>
            <a:pPr algn="ctr" indent="0" marL="0">
              <a:buNone/>
            </a:pPr>
            <a:r>
              <a:rPr lang="en-US" sz="1000" dirty="0">
                <a:solidFill>
                  <a:srgbClr val="FFFFFF"/>
                </a:solidFill>
                <a:latin typeface="Meiryo" pitchFamily="34" charset="0"/>
                <a:ea typeface="Meiryo" pitchFamily="34" charset="-122"/>
                <a:cs typeface="Meiryo" pitchFamily="34" charset="-120"/>
              </a:rPr>
              <a:t>メリット</a:t>
            </a:r>
            <a:endParaRPr lang="en-US" sz="1000" dirty="0"/>
          </a:p>
        </p:txBody>
      </p:sp>
      <p:sp>
        <p:nvSpPr>
          <p:cNvPr id="14" name="Shape 12"/>
          <p:cNvSpPr/>
          <p:nvPr/>
        </p:nvSpPr>
        <p:spPr>
          <a:xfrm>
            <a:off x="2971800" y="3200400"/>
            <a:ext cx="1005840" cy="347472"/>
          </a:xfrm>
          <a:prstGeom prst="roundRect">
            <a:avLst>
              <a:gd name="adj" fmla="val 26316"/>
            </a:avLst>
          </a:prstGeom>
          <a:solidFill>
            <a:srgbClr val="028090">
              <a:alpha val="60000"/>
            </a:srgbClr>
          </a:solidFill>
          <a:ln w="12700">
            <a:solidFill>
              <a:srgbClr val="00A896">
                <a:alpha val="80000"/>
              </a:srgbClr>
            </a:solidFill>
            <a:prstDash val="solid"/>
          </a:ln>
        </p:spPr>
      </p:sp>
      <p:sp>
        <p:nvSpPr>
          <p:cNvPr id="15" name="Text 13"/>
          <p:cNvSpPr/>
          <p:nvPr/>
        </p:nvSpPr>
        <p:spPr>
          <a:xfrm>
            <a:off x="2971800" y="3218688"/>
            <a:ext cx="1005840" cy="320040"/>
          </a:xfrm>
          <a:prstGeom prst="rect">
            <a:avLst/>
          </a:prstGeom>
          <a:noFill/>
          <a:ln/>
        </p:spPr>
        <p:txBody>
          <a:bodyPr wrap="square" rtlCol="0" anchor="ctr"/>
          <a:lstStyle/>
          <a:p>
            <a:pPr algn="ctr" indent="0" marL="0">
              <a:buNone/>
            </a:pPr>
            <a:r>
              <a:rPr lang="en-US" sz="1000" dirty="0">
                <a:solidFill>
                  <a:srgbClr val="FFFFFF"/>
                </a:solidFill>
                <a:latin typeface="Meiryo" pitchFamily="34" charset="0"/>
                <a:ea typeface="Meiryo" pitchFamily="34" charset="-122"/>
                <a:cs typeface="Meiryo" pitchFamily="34" charset="-120"/>
              </a:rPr>
              <a:t>注意点</a:t>
            </a:r>
            <a:endParaRPr lang="en-US" sz="1000" dirty="0"/>
          </a:p>
        </p:txBody>
      </p:sp>
      <p:sp>
        <p:nvSpPr>
          <p:cNvPr id="16" name="Shape 14"/>
          <p:cNvSpPr/>
          <p:nvPr/>
        </p:nvSpPr>
        <p:spPr>
          <a:xfrm>
            <a:off x="4114800" y="3200400"/>
            <a:ext cx="1005840" cy="347472"/>
          </a:xfrm>
          <a:prstGeom prst="roundRect">
            <a:avLst>
              <a:gd name="adj" fmla="val 26316"/>
            </a:avLst>
          </a:prstGeom>
          <a:solidFill>
            <a:srgbClr val="028090">
              <a:alpha val="60000"/>
            </a:srgbClr>
          </a:solidFill>
          <a:ln w="12700">
            <a:solidFill>
              <a:srgbClr val="00A896">
                <a:alpha val="80000"/>
              </a:srgbClr>
            </a:solidFill>
            <a:prstDash val="solid"/>
          </a:ln>
        </p:spPr>
      </p:sp>
      <p:sp>
        <p:nvSpPr>
          <p:cNvPr id="17" name="Text 15"/>
          <p:cNvSpPr/>
          <p:nvPr/>
        </p:nvSpPr>
        <p:spPr>
          <a:xfrm>
            <a:off x="4114800" y="3218688"/>
            <a:ext cx="1005840" cy="320040"/>
          </a:xfrm>
          <a:prstGeom prst="rect">
            <a:avLst/>
          </a:prstGeom>
          <a:noFill/>
          <a:ln/>
        </p:spPr>
        <p:txBody>
          <a:bodyPr wrap="square" rtlCol="0" anchor="ctr"/>
          <a:lstStyle/>
          <a:p>
            <a:pPr algn="ctr" indent="0" marL="0">
              <a:buNone/>
            </a:pPr>
            <a:r>
              <a:rPr lang="en-US" sz="1000" dirty="0">
                <a:solidFill>
                  <a:srgbClr val="FFFFFF"/>
                </a:solidFill>
                <a:latin typeface="Meiryo" pitchFamily="34" charset="0"/>
                <a:ea typeface="Meiryo" pitchFamily="34" charset="-122"/>
                <a:cs typeface="Meiryo" pitchFamily="34" charset="-120"/>
              </a:rPr>
              <a:t>費用</a:t>
            </a:r>
            <a:endParaRPr lang="en-US" sz="1000" dirty="0"/>
          </a:p>
        </p:txBody>
      </p:sp>
      <p:sp>
        <p:nvSpPr>
          <p:cNvPr id="18" name="Shape 16"/>
          <p:cNvSpPr/>
          <p:nvPr/>
        </p:nvSpPr>
        <p:spPr>
          <a:xfrm>
            <a:off x="5257800" y="3200400"/>
            <a:ext cx="1005840" cy="347472"/>
          </a:xfrm>
          <a:prstGeom prst="roundRect">
            <a:avLst>
              <a:gd name="adj" fmla="val 26316"/>
            </a:avLst>
          </a:prstGeom>
          <a:solidFill>
            <a:srgbClr val="028090">
              <a:alpha val="60000"/>
            </a:srgbClr>
          </a:solidFill>
          <a:ln w="12700">
            <a:solidFill>
              <a:srgbClr val="00A896">
                <a:alpha val="80000"/>
              </a:srgbClr>
            </a:solidFill>
            <a:prstDash val="solid"/>
          </a:ln>
        </p:spPr>
      </p:sp>
      <p:sp>
        <p:nvSpPr>
          <p:cNvPr id="19" name="Text 17"/>
          <p:cNvSpPr/>
          <p:nvPr/>
        </p:nvSpPr>
        <p:spPr>
          <a:xfrm>
            <a:off x="5257800" y="3218688"/>
            <a:ext cx="1005840" cy="320040"/>
          </a:xfrm>
          <a:prstGeom prst="rect">
            <a:avLst/>
          </a:prstGeom>
          <a:noFill/>
          <a:ln/>
        </p:spPr>
        <p:txBody>
          <a:bodyPr wrap="square" rtlCol="0" anchor="ctr"/>
          <a:lstStyle/>
          <a:p>
            <a:pPr algn="ctr" indent="0" marL="0">
              <a:buNone/>
            </a:pPr>
            <a:r>
              <a:rPr lang="en-US" sz="1000" dirty="0">
                <a:solidFill>
                  <a:srgbClr val="FFFFFF"/>
                </a:solidFill>
                <a:latin typeface="Meiryo" pitchFamily="34" charset="0"/>
                <a:ea typeface="Meiryo" pitchFamily="34" charset="-122"/>
                <a:cs typeface="Meiryo" pitchFamily="34" charset="-120"/>
              </a:rPr>
              <a:t>税金・ローン</a:t>
            </a:r>
            <a:endParaRPr lang="en-US" sz="1000" dirty="0"/>
          </a:p>
        </p:txBody>
      </p:sp>
      <p:sp>
        <p:nvSpPr>
          <p:cNvPr id="20" name="Shape 18"/>
          <p:cNvSpPr/>
          <p:nvPr/>
        </p:nvSpPr>
        <p:spPr>
          <a:xfrm>
            <a:off x="6400800" y="3200400"/>
            <a:ext cx="1005840" cy="347472"/>
          </a:xfrm>
          <a:prstGeom prst="roundRect">
            <a:avLst>
              <a:gd name="adj" fmla="val 26316"/>
            </a:avLst>
          </a:prstGeom>
          <a:solidFill>
            <a:srgbClr val="028090">
              <a:alpha val="60000"/>
            </a:srgbClr>
          </a:solidFill>
          <a:ln w="12700">
            <a:solidFill>
              <a:srgbClr val="00A896">
                <a:alpha val="80000"/>
              </a:srgbClr>
            </a:solidFill>
            <a:prstDash val="solid"/>
          </a:ln>
        </p:spPr>
      </p:sp>
      <p:sp>
        <p:nvSpPr>
          <p:cNvPr id="21" name="Text 19"/>
          <p:cNvSpPr/>
          <p:nvPr/>
        </p:nvSpPr>
        <p:spPr>
          <a:xfrm>
            <a:off x="6400800" y="3218688"/>
            <a:ext cx="1005840" cy="320040"/>
          </a:xfrm>
          <a:prstGeom prst="rect">
            <a:avLst/>
          </a:prstGeom>
          <a:noFill/>
          <a:ln/>
        </p:spPr>
        <p:txBody>
          <a:bodyPr wrap="square" rtlCol="0" anchor="ctr"/>
          <a:lstStyle/>
          <a:p>
            <a:pPr algn="ctr" indent="0" marL="0">
              <a:buNone/>
            </a:pPr>
            <a:r>
              <a:rPr lang="en-US" sz="1000" dirty="0">
                <a:solidFill>
                  <a:srgbClr val="FFFFFF"/>
                </a:solidFill>
                <a:latin typeface="Meiryo" pitchFamily="34" charset="0"/>
                <a:ea typeface="Meiryo" pitchFamily="34" charset="-122"/>
                <a:cs typeface="Meiryo" pitchFamily="34" charset="-120"/>
              </a:rPr>
              <a:t>Q&amp;A</a:t>
            </a:r>
            <a:endParaRPr lang="en-US" sz="1000" dirty="0"/>
          </a:p>
        </p:txBody>
      </p:sp>
      <p:sp>
        <p:nvSpPr>
          <p:cNvPr id="22" name="Text 20"/>
          <p:cNvSpPr/>
          <p:nvPr/>
        </p:nvSpPr>
        <p:spPr>
          <a:xfrm>
            <a:off x="685800" y="4754880"/>
            <a:ext cx="8229600" cy="274320"/>
          </a:xfrm>
          <a:prstGeom prst="rect">
            <a:avLst/>
          </a:prstGeom>
          <a:noFill/>
          <a:ln/>
        </p:spPr>
        <p:txBody>
          <a:bodyPr wrap="square" rtlCol="0" anchor="ctr"/>
          <a:lstStyle/>
          <a:p>
            <a:pPr indent="0" marL="0">
              <a:buNone/>
            </a:pPr>
            <a:r>
              <a:rPr lang="en-US" sz="1000" dirty="0">
                <a:solidFill>
                  <a:srgbClr val="6BBFC7"/>
                </a:solidFill>
                <a:latin typeface="Meiryo" pitchFamily="34" charset="0"/>
                <a:ea typeface="Meiryo" pitchFamily="34" charset="-122"/>
                <a:cs typeface="Meiryo" pitchFamily="34" charset="-120"/>
              </a:rPr>
              <a:t>定借ナビ  teisha-navi.vercel.app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3B45"/>
          </a:solidFill>
          <a:ln w="12700">
            <a:solidFill>
              <a:srgbClr val="0D3B45"/>
            </a:solidFill>
            <a:prstDash val="solid"/>
          </a:ln>
        </p:spPr>
      </p:sp>
      <p:sp>
        <p:nvSpPr>
          <p:cNvPr id="3" name="Shape 1"/>
          <p:cNvSpPr/>
          <p:nvPr/>
        </p:nvSpPr>
        <p:spPr>
          <a:xfrm>
            <a:off x="0" y="0"/>
            <a:ext cx="137160" cy="914400"/>
          </a:xfrm>
          <a:prstGeom prst="rect">
            <a:avLst/>
          </a:prstGeom>
          <a:solidFill>
            <a:srgbClr val="00A896"/>
          </a:solidFill>
          <a:ln w="12700">
            <a:solidFill>
              <a:srgbClr val="00A896"/>
            </a:solidFill>
            <a:prstDash val="solid"/>
          </a:ln>
        </p:spPr>
      </p:sp>
      <p:sp>
        <p:nvSpPr>
          <p:cNvPr id="4" name="Text 2"/>
          <p:cNvSpPr/>
          <p:nvPr/>
        </p:nvSpPr>
        <p:spPr>
          <a:xfrm>
            <a:off x="365760" y="91440"/>
            <a:ext cx="8229600" cy="6858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01  定期借地権付マンションとは？</a:t>
            </a:r>
            <a:endParaRPr lang="en-US" sz="2200" dirty="0"/>
          </a:p>
        </p:txBody>
      </p:sp>
      <p:sp>
        <p:nvSpPr>
          <p:cNvPr id="5" name="Shape 3"/>
          <p:cNvSpPr/>
          <p:nvPr/>
        </p:nvSpPr>
        <p:spPr>
          <a:xfrm>
            <a:off x="365760" y="1005840"/>
            <a:ext cx="8412480" cy="731520"/>
          </a:xfrm>
          <a:prstGeom prst="rect">
            <a:avLst/>
          </a:prstGeom>
          <a:solidFill>
            <a:srgbClr val="028090">
              <a:alpha val="15000"/>
            </a:srgbClr>
          </a:solidFill>
          <a:ln w="12700">
            <a:solidFill>
              <a:srgbClr val="028090">
                <a:alpha val="40000"/>
              </a:srgbClr>
            </a:solidFill>
            <a:prstDash val="solid"/>
          </a:ln>
        </p:spPr>
      </p:sp>
      <p:sp>
        <p:nvSpPr>
          <p:cNvPr id="6" name="Text 4"/>
          <p:cNvSpPr/>
          <p:nvPr/>
        </p:nvSpPr>
        <p:spPr>
          <a:xfrm>
            <a:off x="502920" y="1051560"/>
            <a:ext cx="8229600" cy="292608"/>
          </a:xfrm>
          <a:prstGeom prst="rect">
            <a:avLst/>
          </a:prstGeom>
          <a:noFill/>
          <a:ln/>
        </p:spPr>
        <p:txBody>
          <a:bodyPr wrap="square" rtlCol="0" anchor="ctr"/>
          <a:lstStyle/>
          <a:p>
            <a:pPr indent="0" marL="0">
              <a:buNone/>
            </a:pPr>
            <a:r>
              <a:rPr lang="en-US" sz="1400" b="1" dirty="0">
                <a:solidFill>
                  <a:srgbClr val="0D3B45"/>
                </a:solidFill>
                <a:latin typeface="Meiryo" pitchFamily="34" charset="0"/>
                <a:ea typeface="Meiryo" pitchFamily="34" charset="-122"/>
                <a:cs typeface="Meiryo" pitchFamily="34" charset="-120"/>
              </a:rPr>
              <a:t>一言で言うと？ 「土地は借りる・建物は所有する」マンション</a:t>
            </a:r>
            <a:endParaRPr lang="en-US" sz="1400" dirty="0"/>
          </a:p>
        </p:txBody>
      </p:sp>
      <p:sp>
        <p:nvSpPr>
          <p:cNvPr id="7" name="Text 5"/>
          <p:cNvSpPr/>
          <p:nvPr/>
        </p:nvSpPr>
        <p:spPr>
          <a:xfrm>
            <a:off x="502920" y="1325880"/>
            <a:ext cx="8229600" cy="365760"/>
          </a:xfrm>
          <a:prstGeom prst="rect">
            <a:avLst/>
          </a:prstGeom>
          <a:noFill/>
          <a:ln/>
        </p:spPr>
        <p:txBody>
          <a:bodyPr wrap="square" rtlCol="0" anchor="ctr"/>
          <a:lstStyle/>
          <a:p>
            <a:pPr indent="0" marL="0">
              <a:buNone/>
            </a:pPr>
            <a:r>
              <a:rPr lang="en-US" sz="1200" dirty="0">
                <a:solidFill>
                  <a:srgbClr val="1E3A3A"/>
                </a:solidFill>
                <a:latin typeface="Meiryo" pitchFamily="34" charset="0"/>
                <a:ea typeface="Meiryo" pitchFamily="34" charset="-122"/>
                <a:cs typeface="Meiryo" pitchFamily="34" charset="-120"/>
              </a:rPr>
              <a:t>借地借家法（1992年施行）に基づく「定期借地権」で期限付きの土地利用権を得る。期間満了後は建物を解体して地主に返還する。</a:t>
            </a:r>
            <a:endParaRPr lang="en-US" sz="1200" dirty="0"/>
          </a:p>
        </p:txBody>
      </p:sp>
      <p:sp>
        <p:nvSpPr>
          <p:cNvPr id="8" name="Shape 6"/>
          <p:cNvSpPr/>
          <p:nvPr/>
        </p:nvSpPr>
        <p:spPr>
          <a:xfrm>
            <a:off x="365760" y="1874520"/>
            <a:ext cx="3931920" cy="411480"/>
          </a:xfrm>
          <a:prstGeom prst="rect">
            <a:avLst/>
          </a:prstGeom>
          <a:solidFill>
            <a:srgbClr val="5E7C7C"/>
          </a:solidFill>
          <a:ln w="12700">
            <a:solidFill>
              <a:srgbClr val="5E7C7C"/>
            </a:solidFill>
            <a:prstDash val="solid"/>
          </a:ln>
        </p:spPr>
      </p:sp>
      <p:sp>
        <p:nvSpPr>
          <p:cNvPr id="9" name="Text 7"/>
          <p:cNvSpPr/>
          <p:nvPr/>
        </p:nvSpPr>
        <p:spPr>
          <a:xfrm>
            <a:off x="457200" y="1901952"/>
            <a:ext cx="3749040" cy="347472"/>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 所有権マンション</a:t>
            </a:r>
            <a:endParaRPr lang="en-US" sz="1400" dirty="0"/>
          </a:p>
        </p:txBody>
      </p:sp>
      <p:sp>
        <p:nvSpPr>
          <p:cNvPr id="10" name="Shape 8"/>
          <p:cNvSpPr/>
          <p:nvPr/>
        </p:nvSpPr>
        <p:spPr>
          <a:xfrm>
            <a:off x="4846320" y="1874520"/>
            <a:ext cx="3931920" cy="411480"/>
          </a:xfrm>
          <a:prstGeom prst="rect">
            <a:avLst/>
          </a:prstGeom>
          <a:solidFill>
            <a:srgbClr val="028090"/>
          </a:solidFill>
          <a:ln w="12700">
            <a:solidFill>
              <a:srgbClr val="028090"/>
            </a:solidFill>
            <a:prstDash val="solid"/>
          </a:ln>
        </p:spPr>
      </p:sp>
      <p:sp>
        <p:nvSpPr>
          <p:cNvPr id="11" name="Text 9"/>
          <p:cNvSpPr/>
          <p:nvPr/>
        </p:nvSpPr>
        <p:spPr>
          <a:xfrm>
            <a:off x="4937760" y="1901952"/>
            <a:ext cx="3749040" cy="347472"/>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 定借マンション</a:t>
            </a:r>
            <a:endParaRPr lang="en-US" sz="1400" dirty="0"/>
          </a:p>
        </p:txBody>
      </p:sp>
      <p:sp>
        <p:nvSpPr>
          <p:cNvPr id="12" name="Shape 10"/>
          <p:cNvSpPr/>
          <p:nvPr/>
        </p:nvSpPr>
        <p:spPr>
          <a:xfrm>
            <a:off x="365760" y="2340864"/>
            <a:ext cx="3931920" cy="457200"/>
          </a:xfrm>
          <a:prstGeom prst="rect">
            <a:avLst/>
          </a:prstGeom>
          <a:solidFill>
            <a:srgbClr val="EEF2EE"/>
          </a:solidFill>
          <a:ln w="12700">
            <a:solidFill>
              <a:srgbClr val="E2E8F0"/>
            </a:solidFill>
            <a:prstDash val="solid"/>
          </a:ln>
        </p:spPr>
      </p:sp>
      <p:sp>
        <p:nvSpPr>
          <p:cNvPr id="13" name="Text 11"/>
          <p:cNvSpPr/>
          <p:nvPr/>
        </p:nvSpPr>
        <p:spPr>
          <a:xfrm>
            <a:off x="502920" y="2432304"/>
            <a:ext cx="3657600" cy="27432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土地の所有権あり</a:t>
            </a:r>
            <a:endParaRPr lang="en-US" sz="1100" dirty="0"/>
          </a:p>
        </p:txBody>
      </p:sp>
      <p:sp>
        <p:nvSpPr>
          <p:cNvPr id="14" name="Shape 12"/>
          <p:cNvSpPr/>
          <p:nvPr/>
        </p:nvSpPr>
        <p:spPr>
          <a:xfrm>
            <a:off x="4846320" y="2340864"/>
            <a:ext cx="3931920" cy="457200"/>
          </a:xfrm>
          <a:prstGeom prst="rect">
            <a:avLst/>
          </a:prstGeom>
          <a:solidFill>
            <a:srgbClr val="E8F5F5"/>
          </a:solidFill>
          <a:ln w="12700">
            <a:solidFill>
              <a:srgbClr val="B2D8DB"/>
            </a:solidFill>
            <a:prstDash val="solid"/>
          </a:ln>
        </p:spPr>
      </p:sp>
      <p:sp>
        <p:nvSpPr>
          <p:cNvPr id="15" name="Text 13"/>
          <p:cNvSpPr/>
          <p:nvPr/>
        </p:nvSpPr>
        <p:spPr>
          <a:xfrm>
            <a:off x="4983480" y="2432304"/>
            <a:ext cx="3657600" cy="274320"/>
          </a:xfrm>
          <a:prstGeom prst="rect">
            <a:avLst/>
          </a:prstGeom>
          <a:noFill/>
          <a:ln/>
        </p:spPr>
        <p:txBody>
          <a:bodyPr wrap="square" rtlCol="0" anchor="ctr"/>
          <a:lstStyle/>
          <a:p>
            <a:pPr indent="0" marL="0">
              <a:buNone/>
            </a:pPr>
            <a:r>
              <a:rPr lang="en-US" sz="1100" b="1" dirty="0">
                <a:solidFill>
                  <a:srgbClr val="028090"/>
                </a:solidFill>
                <a:latin typeface="Meiryo" pitchFamily="34" charset="0"/>
                <a:ea typeface="Meiryo" pitchFamily="34" charset="-122"/>
                <a:cs typeface="Meiryo" pitchFamily="34" charset="-120"/>
              </a:rPr>
              <a:t>土地は借りる（定期借地権）</a:t>
            </a:r>
            <a:endParaRPr lang="en-US" sz="1100" dirty="0"/>
          </a:p>
        </p:txBody>
      </p:sp>
      <p:sp>
        <p:nvSpPr>
          <p:cNvPr id="16" name="Shape 14"/>
          <p:cNvSpPr/>
          <p:nvPr/>
        </p:nvSpPr>
        <p:spPr>
          <a:xfrm>
            <a:off x="365760" y="2843784"/>
            <a:ext cx="3931920" cy="457200"/>
          </a:xfrm>
          <a:prstGeom prst="rect">
            <a:avLst/>
          </a:prstGeom>
          <a:solidFill>
            <a:srgbClr val="FFFFFF"/>
          </a:solidFill>
          <a:ln w="12700">
            <a:solidFill>
              <a:srgbClr val="E2E8F0"/>
            </a:solidFill>
            <a:prstDash val="solid"/>
          </a:ln>
        </p:spPr>
      </p:sp>
      <p:sp>
        <p:nvSpPr>
          <p:cNvPr id="17" name="Text 15"/>
          <p:cNvSpPr/>
          <p:nvPr/>
        </p:nvSpPr>
        <p:spPr>
          <a:xfrm>
            <a:off x="502920" y="2935224"/>
            <a:ext cx="3657600" cy="27432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期限なし・永住可能</a:t>
            </a:r>
            <a:endParaRPr lang="en-US" sz="1100" dirty="0"/>
          </a:p>
        </p:txBody>
      </p:sp>
      <p:sp>
        <p:nvSpPr>
          <p:cNvPr id="18" name="Shape 16"/>
          <p:cNvSpPr/>
          <p:nvPr/>
        </p:nvSpPr>
        <p:spPr>
          <a:xfrm>
            <a:off x="4846320" y="2843784"/>
            <a:ext cx="3931920" cy="457200"/>
          </a:xfrm>
          <a:prstGeom prst="rect">
            <a:avLst/>
          </a:prstGeom>
          <a:solidFill>
            <a:srgbClr val="FFFFFF"/>
          </a:solidFill>
          <a:ln w="12700">
            <a:solidFill>
              <a:srgbClr val="B2D8DB"/>
            </a:solidFill>
            <a:prstDash val="solid"/>
          </a:ln>
        </p:spPr>
      </p:sp>
      <p:sp>
        <p:nvSpPr>
          <p:cNvPr id="19" name="Text 17"/>
          <p:cNvSpPr/>
          <p:nvPr/>
        </p:nvSpPr>
        <p:spPr>
          <a:xfrm>
            <a:off x="4983480" y="2935224"/>
            <a:ext cx="3657600" cy="274320"/>
          </a:xfrm>
          <a:prstGeom prst="rect">
            <a:avLst/>
          </a:prstGeom>
          <a:noFill/>
          <a:ln/>
        </p:spPr>
        <p:txBody>
          <a:bodyPr wrap="square" rtlCol="0" anchor="ctr"/>
          <a:lstStyle/>
          <a:p>
            <a:pPr indent="0" marL="0">
              <a:buNone/>
            </a:pPr>
            <a:r>
              <a:rPr lang="en-US" sz="1100" b="1" dirty="0">
                <a:solidFill>
                  <a:srgbClr val="028090"/>
                </a:solidFill>
                <a:latin typeface="Meiryo" pitchFamily="34" charset="0"/>
                <a:ea typeface="Meiryo" pitchFamily="34" charset="-122"/>
                <a:cs typeface="Meiryo" pitchFamily="34" charset="-120"/>
              </a:rPr>
              <a:t>借地期間あり（50〜75年が多い）</a:t>
            </a:r>
            <a:endParaRPr lang="en-US" sz="1100" dirty="0"/>
          </a:p>
        </p:txBody>
      </p:sp>
      <p:sp>
        <p:nvSpPr>
          <p:cNvPr id="20" name="Shape 18"/>
          <p:cNvSpPr/>
          <p:nvPr/>
        </p:nvSpPr>
        <p:spPr>
          <a:xfrm>
            <a:off x="365760" y="3346704"/>
            <a:ext cx="3931920" cy="457200"/>
          </a:xfrm>
          <a:prstGeom prst="rect">
            <a:avLst/>
          </a:prstGeom>
          <a:solidFill>
            <a:srgbClr val="EEF2EE"/>
          </a:solidFill>
          <a:ln w="12700">
            <a:solidFill>
              <a:srgbClr val="E2E8F0"/>
            </a:solidFill>
            <a:prstDash val="solid"/>
          </a:ln>
        </p:spPr>
      </p:sp>
      <p:sp>
        <p:nvSpPr>
          <p:cNvPr id="21" name="Text 19"/>
          <p:cNvSpPr/>
          <p:nvPr/>
        </p:nvSpPr>
        <p:spPr>
          <a:xfrm>
            <a:off x="502920" y="3438144"/>
            <a:ext cx="3657600" cy="27432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取得価格が高め</a:t>
            </a:r>
            <a:endParaRPr lang="en-US" sz="1100" dirty="0"/>
          </a:p>
        </p:txBody>
      </p:sp>
      <p:sp>
        <p:nvSpPr>
          <p:cNvPr id="22" name="Shape 20"/>
          <p:cNvSpPr/>
          <p:nvPr/>
        </p:nvSpPr>
        <p:spPr>
          <a:xfrm>
            <a:off x="4846320" y="3346704"/>
            <a:ext cx="3931920" cy="457200"/>
          </a:xfrm>
          <a:prstGeom prst="rect">
            <a:avLst/>
          </a:prstGeom>
          <a:solidFill>
            <a:srgbClr val="E8F5F5"/>
          </a:solidFill>
          <a:ln w="12700">
            <a:solidFill>
              <a:srgbClr val="B2D8DB"/>
            </a:solidFill>
            <a:prstDash val="solid"/>
          </a:ln>
        </p:spPr>
      </p:sp>
      <p:sp>
        <p:nvSpPr>
          <p:cNvPr id="23" name="Text 21"/>
          <p:cNvSpPr/>
          <p:nvPr/>
        </p:nvSpPr>
        <p:spPr>
          <a:xfrm>
            <a:off x="4983480" y="3438144"/>
            <a:ext cx="3657600" cy="274320"/>
          </a:xfrm>
          <a:prstGeom prst="rect">
            <a:avLst/>
          </a:prstGeom>
          <a:noFill/>
          <a:ln/>
        </p:spPr>
        <p:txBody>
          <a:bodyPr wrap="square" rtlCol="0" anchor="ctr"/>
          <a:lstStyle/>
          <a:p>
            <a:pPr indent="0" marL="0">
              <a:buNone/>
            </a:pPr>
            <a:r>
              <a:rPr lang="en-US" sz="1100" b="1" dirty="0">
                <a:solidFill>
                  <a:srgbClr val="028090"/>
                </a:solidFill>
                <a:latin typeface="Meiryo" pitchFamily="34" charset="0"/>
                <a:ea typeface="Meiryo" pitchFamily="34" charset="-122"/>
                <a:cs typeface="Meiryo" pitchFamily="34" charset="-120"/>
              </a:rPr>
              <a:t>周辺の約80%前後が目安</a:t>
            </a:r>
            <a:endParaRPr lang="en-US" sz="1100" dirty="0"/>
          </a:p>
        </p:txBody>
      </p:sp>
      <p:sp>
        <p:nvSpPr>
          <p:cNvPr id="24" name="Shape 22"/>
          <p:cNvSpPr/>
          <p:nvPr/>
        </p:nvSpPr>
        <p:spPr>
          <a:xfrm>
            <a:off x="365760" y="3849624"/>
            <a:ext cx="3931920" cy="457200"/>
          </a:xfrm>
          <a:prstGeom prst="rect">
            <a:avLst/>
          </a:prstGeom>
          <a:solidFill>
            <a:srgbClr val="FFFFFF"/>
          </a:solidFill>
          <a:ln w="12700">
            <a:solidFill>
              <a:srgbClr val="E2E8F0"/>
            </a:solidFill>
            <a:prstDash val="solid"/>
          </a:ln>
        </p:spPr>
      </p:sp>
      <p:sp>
        <p:nvSpPr>
          <p:cNvPr id="25" name="Text 23"/>
          <p:cNvSpPr/>
          <p:nvPr/>
        </p:nvSpPr>
        <p:spPr>
          <a:xfrm>
            <a:off x="502920" y="3941064"/>
            <a:ext cx="3657600" cy="27432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土地の固定資産税も負担</a:t>
            </a:r>
            <a:endParaRPr lang="en-US" sz="1100" dirty="0"/>
          </a:p>
        </p:txBody>
      </p:sp>
      <p:sp>
        <p:nvSpPr>
          <p:cNvPr id="26" name="Shape 24"/>
          <p:cNvSpPr/>
          <p:nvPr/>
        </p:nvSpPr>
        <p:spPr>
          <a:xfrm>
            <a:off x="4846320" y="3849624"/>
            <a:ext cx="3931920" cy="457200"/>
          </a:xfrm>
          <a:prstGeom prst="rect">
            <a:avLst/>
          </a:prstGeom>
          <a:solidFill>
            <a:srgbClr val="FFFFFF"/>
          </a:solidFill>
          <a:ln w="12700">
            <a:solidFill>
              <a:srgbClr val="B2D8DB"/>
            </a:solidFill>
            <a:prstDash val="solid"/>
          </a:ln>
        </p:spPr>
      </p:sp>
      <p:sp>
        <p:nvSpPr>
          <p:cNvPr id="27" name="Text 25"/>
          <p:cNvSpPr/>
          <p:nvPr/>
        </p:nvSpPr>
        <p:spPr>
          <a:xfrm>
            <a:off x="4983480" y="3941064"/>
            <a:ext cx="3657600" cy="274320"/>
          </a:xfrm>
          <a:prstGeom prst="rect">
            <a:avLst/>
          </a:prstGeom>
          <a:noFill/>
          <a:ln/>
        </p:spPr>
        <p:txBody>
          <a:bodyPr wrap="square" rtlCol="0" anchor="ctr"/>
          <a:lstStyle/>
          <a:p>
            <a:pPr indent="0" marL="0">
              <a:buNone/>
            </a:pPr>
            <a:r>
              <a:rPr lang="en-US" sz="1100" b="1" dirty="0">
                <a:solidFill>
                  <a:srgbClr val="028090"/>
                </a:solidFill>
                <a:latin typeface="Meiryo" pitchFamily="34" charset="0"/>
                <a:ea typeface="Meiryo" pitchFamily="34" charset="-122"/>
                <a:cs typeface="Meiryo" pitchFamily="34" charset="-120"/>
              </a:rPr>
              <a:t>土地の固都税は地主が負担</a:t>
            </a:r>
            <a:endParaRPr lang="en-US" sz="1100" dirty="0"/>
          </a:p>
        </p:txBody>
      </p:sp>
      <p:sp>
        <p:nvSpPr>
          <p:cNvPr id="28" name="Shape 26"/>
          <p:cNvSpPr/>
          <p:nvPr/>
        </p:nvSpPr>
        <p:spPr>
          <a:xfrm>
            <a:off x="365760" y="4352544"/>
            <a:ext cx="3931920" cy="457200"/>
          </a:xfrm>
          <a:prstGeom prst="rect">
            <a:avLst/>
          </a:prstGeom>
          <a:solidFill>
            <a:srgbClr val="EEF2EE"/>
          </a:solidFill>
          <a:ln w="12700">
            <a:solidFill>
              <a:srgbClr val="E2E8F0"/>
            </a:solidFill>
            <a:prstDash val="solid"/>
          </a:ln>
        </p:spPr>
      </p:sp>
      <p:sp>
        <p:nvSpPr>
          <p:cNvPr id="29" name="Text 27"/>
          <p:cNvSpPr/>
          <p:nvPr/>
        </p:nvSpPr>
        <p:spPr>
          <a:xfrm>
            <a:off x="502920" y="4443984"/>
            <a:ext cx="3657600" cy="27432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毎月の地代なし</a:t>
            </a:r>
            <a:endParaRPr lang="en-US" sz="1100" dirty="0"/>
          </a:p>
        </p:txBody>
      </p:sp>
      <p:sp>
        <p:nvSpPr>
          <p:cNvPr id="30" name="Shape 28"/>
          <p:cNvSpPr/>
          <p:nvPr/>
        </p:nvSpPr>
        <p:spPr>
          <a:xfrm>
            <a:off x="4846320" y="4352544"/>
            <a:ext cx="3931920" cy="457200"/>
          </a:xfrm>
          <a:prstGeom prst="rect">
            <a:avLst/>
          </a:prstGeom>
          <a:solidFill>
            <a:srgbClr val="E8F5F5"/>
          </a:solidFill>
          <a:ln w="12700">
            <a:solidFill>
              <a:srgbClr val="B2D8DB"/>
            </a:solidFill>
            <a:prstDash val="solid"/>
          </a:ln>
        </p:spPr>
      </p:sp>
      <p:sp>
        <p:nvSpPr>
          <p:cNvPr id="31" name="Text 29"/>
          <p:cNvSpPr/>
          <p:nvPr/>
        </p:nvSpPr>
        <p:spPr>
          <a:xfrm>
            <a:off x="4983480" y="4443984"/>
            <a:ext cx="3657600" cy="274320"/>
          </a:xfrm>
          <a:prstGeom prst="rect">
            <a:avLst/>
          </a:prstGeom>
          <a:noFill/>
          <a:ln/>
        </p:spPr>
        <p:txBody>
          <a:bodyPr wrap="square" rtlCol="0" anchor="ctr"/>
          <a:lstStyle/>
          <a:p>
            <a:pPr indent="0" marL="0">
              <a:buNone/>
            </a:pPr>
            <a:r>
              <a:rPr lang="en-US" sz="1100" b="1" dirty="0">
                <a:solidFill>
                  <a:srgbClr val="028090"/>
                </a:solidFill>
                <a:latin typeface="Meiryo" pitchFamily="34" charset="0"/>
                <a:ea typeface="Meiryo" pitchFamily="34" charset="-122"/>
                <a:cs typeface="Meiryo" pitchFamily="34" charset="-120"/>
              </a:rPr>
              <a:t>月々の地代・解体積立金あり</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3B45"/>
          </a:solidFill>
          <a:ln w="12700">
            <a:solidFill>
              <a:srgbClr val="0D3B45"/>
            </a:solidFill>
            <a:prstDash val="solid"/>
          </a:ln>
        </p:spPr>
      </p:sp>
      <p:sp>
        <p:nvSpPr>
          <p:cNvPr id="3" name="Shape 1"/>
          <p:cNvSpPr/>
          <p:nvPr/>
        </p:nvSpPr>
        <p:spPr>
          <a:xfrm>
            <a:off x="0" y="0"/>
            <a:ext cx="137160" cy="914400"/>
          </a:xfrm>
          <a:prstGeom prst="rect">
            <a:avLst/>
          </a:prstGeom>
          <a:solidFill>
            <a:srgbClr val="00A896"/>
          </a:solidFill>
          <a:ln w="12700">
            <a:solidFill>
              <a:srgbClr val="00A896"/>
            </a:solidFill>
            <a:prstDash val="solid"/>
          </a:ln>
        </p:spPr>
      </p:sp>
      <p:sp>
        <p:nvSpPr>
          <p:cNvPr id="4" name="Text 2"/>
          <p:cNvSpPr/>
          <p:nvPr/>
        </p:nvSpPr>
        <p:spPr>
          <a:xfrm>
            <a:off x="365760" y="91440"/>
            <a:ext cx="8229600" cy="6858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02  定借マンションの3つのメリット</a:t>
            </a:r>
            <a:endParaRPr lang="en-US" sz="2200" dirty="0"/>
          </a:p>
        </p:txBody>
      </p:sp>
      <p:sp>
        <p:nvSpPr>
          <p:cNvPr id="5" name="Shape 3"/>
          <p:cNvSpPr/>
          <p:nvPr/>
        </p:nvSpPr>
        <p:spPr>
          <a:xfrm>
            <a:off x="365760" y="1097280"/>
            <a:ext cx="8412480" cy="1143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65760" y="1097280"/>
            <a:ext cx="777240" cy="1143000"/>
          </a:xfrm>
          <a:prstGeom prst="rect">
            <a:avLst/>
          </a:prstGeom>
          <a:solidFill>
            <a:srgbClr val="028090"/>
          </a:solidFill>
          <a:ln w="12700">
            <a:solidFill>
              <a:srgbClr val="028090"/>
            </a:solidFill>
            <a:prstDash val="solid"/>
          </a:ln>
        </p:spPr>
      </p:sp>
      <p:sp>
        <p:nvSpPr>
          <p:cNvPr id="7" name="Text 5"/>
          <p:cNvSpPr/>
          <p:nvPr/>
        </p:nvSpPr>
        <p:spPr>
          <a:xfrm>
            <a:off x="365760" y="1188720"/>
            <a:ext cx="777240" cy="457200"/>
          </a:xfrm>
          <a:prstGeom prst="rect">
            <a:avLst/>
          </a:prstGeom>
          <a:noFill/>
          <a:ln/>
        </p:spPr>
        <p:txBody>
          <a:bodyPr wrap="square" rtlCol="0" anchor="ctr"/>
          <a:lstStyle/>
          <a:p>
            <a:pPr algn="ctr" indent="0" marL="0">
              <a:buNone/>
            </a:pPr>
            <a:r>
              <a:rPr lang="en-US" sz="2200" dirty="0">
                <a:solidFill>
                  <a:srgbClr val="000000"/>
                </a:solidFill>
                <a:latin typeface="Meiryo" pitchFamily="34" charset="0"/>
                <a:ea typeface="Meiryo" pitchFamily="34" charset="-122"/>
                <a:cs typeface="Meiryo" pitchFamily="34" charset="-120"/>
              </a:rPr>
              <a:t>📍</a:t>
            </a:r>
            <a:endParaRPr lang="en-US" sz="2200" dirty="0"/>
          </a:p>
        </p:txBody>
      </p:sp>
      <p:sp>
        <p:nvSpPr>
          <p:cNvPr id="8" name="Text 6"/>
          <p:cNvSpPr/>
          <p:nvPr/>
        </p:nvSpPr>
        <p:spPr>
          <a:xfrm>
            <a:off x="365760" y="1691640"/>
            <a:ext cx="777240" cy="274320"/>
          </a:xfrm>
          <a:prstGeom prst="rect">
            <a:avLst/>
          </a:prstGeom>
          <a:noFill/>
          <a:ln/>
        </p:spPr>
        <p:txBody>
          <a:bodyPr wrap="square" rtlCol="0" anchor="ctr"/>
          <a:lstStyle/>
          <a:p>
            <a:pPr algn="ctr" indent="0" marL="0">
              <a:buNone/>
            </a:pPr>
            <a:r>
              <a:rPr lang="en-US" sz="850" dirty="0">
                <a:solidFill>
                  <a:srgbClr val="DDEEEE"/>
                </a:solidFill>
                <a:latin typeface="Meiryo" pitchFamily="34" charset="0"/>
                <a:ea typeface="Meiryo" pitchFamily="34" charset="-122"/>
                <a:cs typeface="Meiryo" pitchFamily="34" charset="-120"/>
              </a:rPr>
              <a:t>Merit 01</a:t>
            </a:r>
            <a:endParaRPr lang="en-US" sz="850" dirty="0"/>
          </a:p>
        </p:txBody>
      </p:sp>
      <p:sp>
        <p:nvSpPr>
          <p:cNvPr id="9" name="Text 7"/>
          <p:cNvSpPr/>
          <p:nvPr/>
        </p:nvSpPr>
        <p:spPr>
          <a:xfrm>
            <a:off x="1280160" y="1188720"/>
            <a:ext cx="7315200" cy="347472"/>
          </a:xfrm>
          <a:prstGeom prst="rect">
            <a:avLst/>
          </a:prstGeom>
          <a:noFill/>
          <a:ln/>
        </p:spPr>
        <p:txBody>
          <a:bodyPr wrap="square" rtlCol="0" anchor="ctr"/>
          <a:lstStyle/>
          <a:p>
            <a:pPr indent="0" marL="0">
              <a:buNone/>
            </a:pPr>
            <a:r>
              <a:rPr lang="en-US" sz="1600" b="1" dirty="0">
                <a:solidFill>
                  <a:srgbClr val="0D3B45"/>
                </a:solidFill>
                <a:latin typeface="Meiryo" pitchFamily="34" charset="0"/>
                <a:ea typeface="Meiryo" pitchFamily="34" charset="-122"/>
                <a:cs typeface="Meiryo" pitchFamily="34" charset="-120"/>
              </a:rPr>
              <a:t>好立地で手に入れやすい</a:t>
            </a:r>
            <a:endParaRPr lang="en-US" sz="1600" dirty="0"/>
          </a:p>
        </p:txBody>
      </p:sp>
      <p:sp>
        <p:nvSpPr>
          <p:cNvPr id="10" name="Text 8"/>
          <p:cNvSpPr/>
          <p:nvPr/>
        </p:nvSpPr>
        <p:spPr>
          <a:xfrm>
            <a:off x="1280160" y="1554480"/>
            <a:ext cx="7315200" cy="59436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地主が「土地は手放したくないが活用したい」エリアを使うため、駅近・都心の好立地が多いのが特徴。フランス大使館跡地・日赤医療センター・渋谷区有地・大学用地など、通常市場に出ない場所に建つことも。</a:t>
            </a:r>
            <a:endParaRPr lang="en-US" sz="1100" dirty="0"/>
          </a:p>
        </p:txBody>
      </p:sp>
      <p:sp>
        <p:nvSpPr>
          <p:cNvPr id="11" name="Shape 9"/>
          <p:cNvSpPr/>
          <p:nvPr/>
        </p:nvSpPr>
        <p:spPr>
          <a:xfrm>
            <a:off x="365760" y="2377440"/>
            <a:ext cx="8412480" cy="1143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365760" y="2377440"/>
            <a:ext cx="777240" cy="1143000"/>
          </a:xfrm>
          <a:prstGeom prst="rect">
            <a:avLst/>
          </a:prstGeom>
          <a:solidFill>
            <a:srgbClr val="028090"/>
          </a:solidFill>
          <a:ln w="12700">
            <a:solidFill>
              <a:srgbClr val="028090"/>
            </a:solidFill>
            <a:prstDash val="solid"/>
          </a:ln>
        </p:spPr>
      </p:sp>
      <p:sp>
        <p:nvSpPr>
          <p:cNvPr id="13" name="Text 11"/>
          <p:cNvSpPr/>
          <p:nvPr/>
        </p:nvSpPr>
        <p:spPr>
          <a:xfrm>
            <a:off x="365760" y="2468880"/>
            <a:ext cx="777240" cy="457200"/>
          </a:xfrm>
          <a:prstGeom prst="rect">
            <a:avLst/>
          </a:prstGeom>
          <a:noFill/>
          <a:ln/>
        </p:spPr>
        <p:txBody>
          <a:bodyPr wrap="square" rtlCol="0" anchor="ctr"/>
          <a:lstStyle/>
          <a:p>
            <a:pPr algn="ctr" indent="0" marL="0">
              <a:buNone/>
            </a:pPr>
            <a:r>
              <a:rPr lang="en-US" sz="2200" dirty="0">
                <a:solidFill>
                  <a:srgbClr val="000000"/>
                </a:solidFill>
                <a:latin typeface="Meiryo" pitchFamily="34" charset="0"/>
                <a:ea typeface="Meiryo" pitchFamily="34" charset="-122"/>
                <a:cs typeface="Meiryo" pitchFamily="34" charset="-120"/>
              </a:rPr>
              <a:t>💰</a:t>
            </a:r>
            <a:endParaRPr lang="en-US" sz="2200" dirty="0"/>
          </a:p>
        </p:txBody>
      </p:sp>
      <p:sp>
        <p:nvSpPr>
          <p:cNvPr id="14" name="Text 12"/>
          <p:cNvSpPr/>
          <p:nvPr/>
        </p:nvSpPr>
        <p:spPr>
          <a:xfrm>
            <a:off x="365760" y="2971800"/>
            <a:ext cx="777240" cy="274320"/>
          </a:xfrm>
          <a:prstGeom prst="rect">
            <a:avLst/>
          </a:prstGeom>
          <a:noFill/>
          <a:ln/>
        </p:spPr>
        <p:txBody>
          <a:bodyPr wrap="square" rtlCol="0" anchor="ctr"/>
          <a:lstStyle/>
          <a:p>
            <a:pPr algn="ctr" indent="0" marL="0">
              <a:buNone/>
            </a:pPr>
            <a:r>
              <a:rPr lang="en-US" sz="850" dirty="0">
                <a:solidFill>
                  <a:srgbClr val="DDEEEE"/>
                </a:solidFill>
                <a:latin typeface="Meiryo" pitchFamily="34" charset="0"/>
                <a:ea typeface="Meiryo" pitchFamily="34" charset="-122"/>
                <a:cs typeface="Meiryo" pitchFamily="34" charset="-120"/>
              </a:rPr>
              <a:t>Merit 02</a:t>
            </a:r>
            <a:endParaRPr lang="en-US" sz="850" dirty="0"/>
          </a:p>
        </p:txBody>
      </p:sp>
      <p:sp>
        <p:nvSpPr>
          <p:cNvPr id="15" name="Text 13"/>
          <p:cNvSpPr/>
          <p:nvPr/>
        </p:nvSpPr>
        <p:spPr>
          <a:xfrm>
            <a:off x="1280160" y="2468880"/>
            <a:ext cx="7315200" cy="347472"/>
          </a:xfrm>
          <a:prstGeom prst="rect">
            <a:avLst/>
          </a:prstGeom>
          <a:noFill/>
          <a:ln/>
        </p:spPr>
        <p:txBody>
          <a:bodyPr wrap="square" rtlCol="0" anchor="ctr"/>
          <a:lstStyle/>
          <a:p>
            <a:pPr indent="0" marL="0">
              <a:buNone/>
            </a:pPr>
            <a:r>
              <a:rPr lang="en-US" sz="1600" b="1" dirty="0">
                <a:solidFill>
                  <a:srgbClr val="0D3B45"/>
                </a:solidFill>
                <a:latin typeface="Meiryo" pitchFamily="34" charset="0"/>
                <a:ea typeface="Meiryo" pitchFamily="34" charset="-122"/>
                <a:cs typeface="Meiryo" pitchFamily="34" charset="-120"/>
              </a:rPr>
              <a:t>初期費用が抑えられる</a:t>
            </a:r>
            <a:endParaRPr lang="en-US" sz="1600" dirty="0"/>
          </a:p>
        </p:txBody>
      </p:sp>
      <p:sp>
        <p:nvSpPr>
          <p:cNvPr id="16" name="Text 14"/>
          <p:cNvSpPr/>
          <p:nvPr/>
        </p:nvSpPr>
        <p:spPr>
          <a:xfrm>
            <a:off x="1280160" y="2834640"/>
            <a:ext cx="7315200" cy="59436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土地代が含まれない分、同エリアの所有権マンションより割安（国土交通省データで約80%水準が目安）。浮いた資金で広い間取りや設備グレードを選ぶことも可能です。</a:t>
            </a:r>
            <a:endParaRPr lang="en-US" sz="1100" dirty="0"/>
          </a:p>
        </p:txBody>
      </p:sp>
      <p:sp>
        <p:nvSpPr>
          <p:cNvPr id="17" name="Shape 15"/>
          <p:cNvSpPr/>
          <p:nvPr/>
        </p:nvSpPr>
        <p:spPr>
          <a:xfrm>
            <a:off x="365760" y="3657600"/>
            <a:ext cx="8412480" cy="1143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365760" y="3657600"/>
            <a:ext cx="777240" cy="1143000"/>
          </a:xfrm>
          <a:prstGeom prst="rect">
            <a:avLst/>
          </a:prstGeom>
          <a:solidFill>
            <a:srgbClr val="016B73"/>
          </a:solidFill>
          <a:ln w="12700">
            <a:solidFill>
              <a:srgbClr val="016B73"/>
            </a:solidFill>
            <a:prstDash val="solid"/>
          </a:ln>
        </p:spPr>
      </p:sp>
      <p:sp>
        <p:nvSpPr>
          <p:cNvPr id="19" name="Text 17"/>
          <p:cNvSpPr/>
          <p:nvPr/>
        </p:nvSpPr>
        <p:spPr>
          <a:xfrm>
            <a:off x="365760" y="3749040"/>
            <a:ext cx="777240" cy="457200"/>
          </a:xfrm>
          <a:prstGeom prst="rect">
            <a:avLst/>
          </a:prstGeom>
          <a:noFill/>
          <a:ln/>
        </p:spPr>
        <p:txBody>
          <a:bodyPr wrap="square" rtlCol="0" anchor="ctr"/>
          <a:lstStyle/>
          <a:p>
            <a:pPr algn="ctr" indent="0" marL="0">
              <a:buNone/>
            </a:pPr>
            <a:r>
              <a:rPr lang="en-US" sz="2200" dirty="0">
                <a:solidFill>
                  <a:srgbClr val="000000"/>
                </a:solidFill>
                <a:latin typeface="Meiryo" pitchFamily="34" charset="0"/>
                <a:ea typeface="Meiryo" pitchFamily="34" charset="-122"/>
                <a:cs typeface="Meiryo" pitchFamily="34" charset="-120"/>
              </a:rPr>
              <a:t>🏷️</a:t>
            </a:r>
            <a:endParaRPr lang="en-US" sz="2200" dirty="0"/>
          </a:p>
        </p:txBody>
      </p:sp>
      <p:sp>
        <p:nvSpPr>
          <p:cNvPr id="20" name="Text 18"/>
          <p:cNvSpPr/>
          <p:nvPr/>
        </p:nvSpPr>
        <p:spPr>
          <a:xfrm>
            <a:off x="365760" y="4251960"/>
            <a:ext cx="777240" cy="274320"/>
          </a:xfrm>
          <a:prstGeom prst="rect">
            <a:avLst/>
          </a:prstGeom>
          <a:noFill/>
          <a:ln/>
        </p:spPr>
        <p:txBody>
          <a:bodyPr wrap="square" rtlCol="0" anchor="ctr"/>
          <a:lstStyle/>
          <a:p>
            <a:pPr algn="ctr" indent="0" marL="0">
              <a:buNone/>
            </a:pPr>
            <a:r>
              <a:rPr lang="en-US" sz="850" dirty="0">
                <a:solidFill>
                  <a:srgbClr val="DDEEEE"/>
                </a:solidFill>
                <a:latin typeface="Meiryo" pitchFamily="34" charset="0"/>
                <a:ea typeface="Meiryo" pitchFamily="34" charset="-122"/>
                <a:cs typeface="Meiryo" pitchFamily="34" charset="-120"/>
              </a:rPr>
              <a:t>Merit 03</a:t>
            </a:r>
            <a:endParaRPr lang="en-US" sz="850" dirty="0"/>
          </a:p>
        </p:txBody>
      </p:sp>
      <p:sp>
        <p:nvSpPr>
          <p:cNvPr id="21" name="Text 19"/>
          <p:cNvSpPr/>
          <p:nvPr/>
        </p:nvSpPr>
        <p:spPr>
          <a:xfrm>
            <a:off x="1280160" y="3749040"/>
            <a:ext cx="7315200" cy="347472"/>
          </a:xfrm>
          <a:prstGeom prst="rect">
            <a:avLst/>
          </a:prstGeom>
          <a:noFill/>
          <a:ln/>
        </p:spPr>
        <p:txBody>
          <a:bodyPr wrap="square" rtlCol="0" anchor="ctr"/>
          <a:lstStyle/>
          <a:p>
            <a:pPr indent="0" marL="0">
              <a:buNone/>
            </a:pPr>
            <a:r>
              <a:rPr lang="en-US" sz="1600" b="1" dirty="0">
                <a:solidFill>
                  <a:srgbClr val="0D3B45"/>
                </a:solidFill>
                <a:latin typeface="Meiryo" pitchFamily="34" charset="0"/>
                <a:ea typeface="Meiryo" pitchFamily="34" charset="-122"/>
                <a:cs typeface="Meiryo" pitchFamily="34" charset="-120"/>
              </a:rPr>
              <a:t>各種税金が軽くなる</a:t>
            </a:r>
            <a:endParaRPr lang="en-US" sz="1600" dirty="0"/>
          </a:p>
        </p:txBody>
      </p:sp>
      <p:sp>
        <p:nvSpPr>
          <p:cNvPr id="22" name="Text 20"/>
          <p:cNvSpPr/>
          <p:nvPr/>
        </p:nvSpPr>
        <p:spPr>
          <a:xfrm>
            <a:off x="1280160" y="4114800"/>
            <a:ext cx="7315200" cy="59436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土地を所有しないため、土地の固定資産税・都市計画税は地主が負担。不動産取得税・登録免許税も建物部分のみ課税。毎年のランニングコストが有利になります。</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3B45"/>
          </a:solidFill>
          <a:ln w="12700">
            <a:solidFill>
              <a:srgbClr val="0D3B45"/>
            </a:solidFill>
            <a:prstDash val="solid"/>
          </a:ln>
        </p:spPr>
      </p:sp>
      <p:sp>
        <p:nvSpPr>
          <p:cNvPr id="3" name="Shape 1"/>
          <p:cNvSpPr/>
          <p:nvPr/>
        </p:nvSpPr>
        <p:spPr>
          <a:xfrm>
            <a:off x="0" y="0"/>
            <a:ext cx="137160" cy="914400"/>
          </a:xfrm>
          <a:prstGeom prst="rect">
            <a:avLst/>
          </a:prstGeom>
          <a:solidFill>
            <a:srgbClr val="00A896"/>
          </a:solidFill>
          <a:ln w="12700">
            <a:solidFill>
              <a:srgbClr val="00A896"/>
            </a:solidFill>
            <a:prstDash val="solid"/>
          </a:ln>
        </p:spPr>
      </p:sp>
      <p:sp>
        <p:nvSpPr>
          <p:cNvPr id="4" name="Text 2"/>
          <p:cNvSpPr/>
          <p:nvPr/>
        </p:nvSpPr>
        <p:spPr>
          <a:xfrm>
            <a:off x="365760" y="91440"/>
            <a:ext cx="8229600" cy="6858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03  購入前に知っておきたい注意点</a:t>
            </a:r>
            <a:endParaRPr lang="en-US" sz="2200" dirty="0"/>
          </a:p>
        </p:txBody>
      </p:sp>
      <p:sp>
        <p:nvSpPr>
          <p:cNvPr id="5" name="Shape 3"/>
          <p:cNvSpPr/>
          <p:nvPr/>
        </p:nvSpPr>
        <p:spPr>
          <a:xfrm>
            <a:off x="365760" y="1097280"/>
            <a:ext cx="8412480" cy="1143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65760" y="1097280"/>
            <a:ext cx="777240" cy="1143000"/>
          </a:xfrm>
          <a:prstGeom prst="rect">
            <a:avLst/>
          </a:prstGeom>
          <a:solidFill>
            <a:srgbClr val="D97706"/>
          </a:solidFill>
          <a:ln w="12700">
            <a:solidFill>
              <a:srgbClr val="D97706"/>
            </a:solidFill>
            <a:prstDash val="solid"/>
          </a:ln>
        </p:spPr>
      </p:sp>
      <p:sp>
        <p:nvSpPr>
          <p:cNvPr id="7" name="Text 5"/>
          <p:cNvSpPr/>
          <p:nvPr/>
        </p:nvSpPr>
        <p:spPr>
          <a:xfrm>
            <a:off x="365760" y="1188720"/>
            <a:ext cx="777240" cy="457200"/>
          </a:xfrm>
          <a:prstGeom prst="rect">
            <a:avLst/>
          </a:prstGeom>
          <a:noFill/>
          <a:ln/>
        </p:spPr>
        <p:txBody>
          <a:bodyPr wrap="square" rtlCol="0" anchor="ctr"/>
          <a:lstStyle/>
          <a:p>
            <a:pPr algn="ctr" indent="0" marL="0">
              <a:buNone/>
            </a:pPr>
            <a:r>
              <a:rPr lang="en-US" sz="2200" dirty="0">
                <a:solidFill>
                  <a:srgbClr val="000000"/>
                </a:solidFill>
                <a:latin typeface="Meiryo" pitchFamily="34" charset="0"/>
                <a:ea typeface="Meiryo" pitchFamily="34" charset="-122"/>
                <a:cs typeface="Meiryo" pitchFamily="34" charset="-120"/>
              </a:rPr>
              <a:t>⏰</a:t>
            </a:r>
            <a:endParaRPr lang="en-US" sz="2200" dirty="0"/>
          </a:p>
        </p:txBody>
      </p:sp>
      <p:sp>
        <p:nvSpPr>
          <p:cNvPr id="8" name="Text 6"/>
          <p:cNvSpPr/>
          <p:nvPr/>
        </p:nvSpPr>
        <p:spPr>
          <a:xfrm>
            <a:off x="365760" y="1691640"/>
            <a:ext cx="777240" cy="274320"/>
          </a:xfrm>
          <a:prstGeom prst="rect">
            <a:avLst/>
          </a:prstGeom>
          <a:noFill/>
          <a:ln/>
        </p:spPr>
        <p:txBody>
          <a:bodyPr wrap="square" rtlCol="0" anchor="ctr"/>
          <a:lstStyle/>
          <a:p>
            <a:pPr algn="ctr" indent="0" marL="0">
              <a:buNone/>
            </a:pPr>
            <a:r>
              <a:rPr lang="en-US" sz="850" dirty="0">
                <a:solidFill>
                  <a:srgbClr val="EEDDD0"/>
                </a:solidFill>
                <a:latin typeface="Meiryo" pitchFamily="34" charset="0"/>
                <a:ea typeface="Meiryo" pitchFamily="34" charset="-122"/>
                <a:cs typeface="Meiryo" pitchFamily="34" charset="-120"/>
              </a:rPr>
              <a:t>Point 01</a:t>
            </a:r>
            <a:endParaRPr lang="en-US" sz="850" dirty="0"/>
          </a:p>
        </p:txBody>
      </p:sp>
      <p:sp>
        <p:nvSpPr>
          <p:cNvPr id="9" name="Text 7"/>
          <p:cNvSpPr/>
          <p:nvPr/>
        </p:nvSpPr>
        <p:spPr>
          <a:xfrm>
            <a:off x="1280160" y="1188720"/>
            <a:ext cx="7315200" cy="347472"/>
          </a:xfrm>
          <a:prstGeom prst="rect">
            <a:avLst/>
          </a:prstGeom>
          <a:noFill/>
          <a:ln/>
        </p:spPr>
        <p:txBody>
          <a:bodyPr wrap="square" rtlCol="0" anchor="ctr"/>
          <a:lstStyle/>
          <a:p>
            <a:pPr indent="0" marL="0">
              <a:buNone/>
            </a:pPr>
            <a:r>
              <a:rPr lang="en-US" sz="1600" b="1" dirty="0">
                <a:solidFill>
                  <a:srgbClr val="0D3B45"/>
                </a:solidFill>
                <a:latin typeface="Meiryo" pitchFamily="34" charset="0"/>
                <a:ea typeface="Meiryo" pitchFamily="34" charset="-122"/>
                <a:cs typeface="Meiryo" pitchFamily="34" charset="-120"/>
              </a:rPr>
              <a:t>借地期間が終わると返還が必要</a:t>
            </a:r>
            <a:endParaRPr lang="en-US" sz="1600" dirty="0"/>
          </a:p>
        </p:txBody>
      </p:sp>
      <p:sp>
        <p:nvSpPr>
          <p:cNvPr id="10" name="Text 8"/>
          <p:cNvSpPr/>
          <p:nvPr/>
        </p:nvSpPr>
        <p:spPr>
          <a:xfrm>
            <a:off x="1280160" y="1554480"/>
            <a:ext cx="7315200" cy="59436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定期借地権は更新できません。期間（多くは50〜75年）満了後は建物を解体して更地で地主に返還します。ただし「残存年数が十分ある間は普通のマンションとほぼ同じ」。30歳で60年物件を購入すれば90歳まで住めます。</a:t>
            </a:r>
            <a:endParaRPr lang="en-US" sz="1100" dirty="0"/>
          </a:p>
        </p:txBody>
      </p:sp>
      <p:sp>
        <p:nvSpPr>
          <p:cNvPr id="11" name="Shape 9"/>
          <p:cNvSpPr/>
          <p:nvPr/>
        </p:nvSpPr>
        <p:spPr>
          <a:xfrm>
            <a:off x="365760" y="2377440"/>
            <a:ext cx="8412480" cy="1143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365760" y="2377440"/>
            <a:ext cx="777240" cy="1143000"/>
          </a:xfrm>
          <a:prstGeom prst="rect">
            <a:avLst/>
          </a:prstGeom>
          <a:solidFill>
            <a:srgbClr val="EA580C"/>
          </a:solidFill>
          <a:ln w="12700">
            <a:solidFill>
              <a:srgbClr val="EA580C"/>
            </a:solidFill>
            <a:prstDash val="solid"/>
          </a:ln>
        </p:spPr>
      </p:sp>
      <p:sp>
        <p:nvSpPr>
          <p:cNvPr id="13" name="Text 11"/>
          <p:cNvSpPr/>
          <p:nvPr/>
        </p:nvSpPr>
        <p:spPr>
          <a:xfrm>
            <a:off x="365760" y="2468880"/>
            <a:ext cx="777240" cy="457200"/>
          </a:xfrm>
          <a:prstGeom prst="rect">
            <a:avLst/>
          </a:prstGeom>
          <a:noFill/>
          <a:ln/>
        </p:spPr>
        <p:txBody>
          <a:bodyPr wrap="square" rtlCol="0" anchor="ctr"/>
          <a:lstStyle/>
          <a:p>
            <a:pPr algn="ctr" indent="0" marL="0">
              <a:buNone/>
            </a:pPr>
            <a:r>
              <a:rPr lang="en-US" sz="2200" dirty="0">
                <a:solidFill>
                  <a:srgbClr val="000000"/>
                </a:solidFill>
                <a:latin typeface="Meiryo" pitchFamily="34" charset="0"/>
                <a:ea typeface="Meiryo" pitchFamily="34" charset="-122"/>
                <a:cs typeface="Meiryo" pitchFamily="34" charset="-120"/>
              </a:rPr>
              <a:t>💳</a:t>
            </a:r>
            <a:endParaRPr lang="en-US" sz="2200" dirty="0"/>
          </a:p>
        </p:txBody>
      </p:sp>
      <p:sp>
        <p:nvSpPr>
          <p:cNvPr id="14" name="Text 12"/>
          <p:cNvSpPr/>
          <p:nvPr/>
        </p:nvSpPr>
        <p:spPr>
          <a:xfrm>
            <a:off x="365760" y="2971800"/>
            <a:ext cx="777240" cy="274320"/>
          </a:xfrm>
          <a:prstGeom prst="rect">
            <a:avLst/>
          </a:prstGeom>
          <a:noFill/>
          <a:ln/>
        </p:spPr>
        <p:txBody>
          <a:bodyPr wrap="square" rtlCol="0" anchor="ctr"/>
          <a:lstStyle/>
          <a:p>
            <a:pPr algn="ctr" indent="0" marL="0">
              <a:buNone/>
            </a:pPr>
            <a:r>
              <a:rPr lang="en-US" sz="850" dirty="0">
                <a:solidFill>
                  <a:srgbClr val="EEDDD0"/>
                </a:solidFill>
                <a:latin typeface="Meiryo" pitchFamily="34" charset="0"/>
                <a:ea typeface="Meiryo" pitchFamily="34" charset="-122"/>
                <a:cs typeface="Meiryo" pitchFamily="34" charset="-120"/>
              </a:rPr>
              <a:t>Point 02</a:t>
            </a:r>
            <a:endParaRPr lang="en-US" sz="850" dirty="0"/>
          </a:p>
        </p:txBody>
      </p:sp>
      <p:sp>
        <p:nvSpPr>
          <p:cNvPr id="15" name="Text 13"/>
          <p:cNvSpPr/>
          <p:nvPr/>
        </p:nvSpPr>
        <p:spPr>
          <a:xfrm>
            <a:off x="1280160" y="2468880"/>
            <a:ext cx="7315200" cy="347472"/>
          </a:xfrm>
          <a:prstGeom prst="rect">
            <a:avLst/>
          </a:prstGeom>
          <a:noFill/>
          <a:ln/>
        </p:spPr>
        <p:txBody>
          <a:bodyPr wrap="square" rtlCol="0" anchor="ctr"/>
          <a:lstStyle/>
          <a:p>
            <a:pPr indent="0" marL="0">
              <a:buNone/>
            </a:pPr>
            <a:r>
              <a:rPr lang="en-US" sz="1600" b="1" dirty="0">
                <a:solidFill>
                  <a:srgbClr val="0D3B45"/>
                </a:solidFill>
                <a:latin typeface="Meiryo" pitchFamily="34" charset="0"/>
                <a:ea typeface="Meiryo" pitchFamily="34" charset="-122"/>
                <a:cs typeface="Meiryo" pitchFamily="34" charset="-120"/>
              </a:rPr>
              <a:t>毎月の地代・解体積立金がかかる</a:t>
            </a:r>
            <a:endParaRPr lang="en-US" sz="1600" dirty="0"/>
          </a:p>
        </p:txBody>
      </p:sp>
      <p:sp>
        <p:nvSpPr>
          <p:cNvPr id="16" name="Text 14"/>
          <p:cNvSpPr/>
          <p:nvPr/>
        </p:nvSpPr>
        <p:spPr>
          <a:xfrm>
            <a:off x="1280160" y="2834640"/>
            <a:ext cx="7315200" cy="59436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管理費・修繕積立金に加えて、毎月「地代」と「解体準備積立金」が必要です。地代は月数千円〜数万円（物件・面積により異なる）。購入前に月々の総支払額を試算することが重要です。</a:t>
            </a:r>
            <a:endParaRPr lang="en-US" sz="1100" dirty="0"/>
          </a:p>
        </p:txBody>
      </p:sp>
      <p:sp>
        <p:nvSpPr>
          <p:cNvPr id="17" name="Shape 15"/>
          <p:cNvSpPr/>
          <p:nvPr/>
        </p:nvSpPr>
        <p:spPr>
          <a:xfrm>
            <a:off x="365760" y="3657600"/>
            <a:ext cx="8412480" cy="1143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365760" y="3657600"/>
            <a:ext cx="777240" cy="1143000"/>
          </a:xfrm>
          <a:prstGeom prst="rect">
            <a:avLst/>
          </a:prstGeom>
          <a:solidFill>
            <a:srgbClr val="DC2626"/>
          </a:solidFill>
          <a:ln w="12700">
            <a:solidFill>
              <a:srgbClr val="DC2626"/>
            </a:solidFill>
            <a:prstDash val="solid"/>
          </a:ln>
        </p:spPr>
      </p:sp>
      <p:sp>
        <p:nvSpPr>
          <p:cNvPr id="19" name="Text 17"/>
          <p:cNvSpPr/>
          <p:nvPr/>
        </p:nvSpPr>
        <p:spPr>
          <a:xfrm>
            <a:off x="365760" y="3749040"/>
            <a:ext cx="777240" cy="457200"/>
          </a:xfrm>
          <a:prstGeom prst="rect">
            <a:avLst/>
          </a:prstGeom>
          <a:noFill/>
          <a:ln/>
        </p:spPr>
        <p:txBody>
          <a:bodyPr wrap="square" rtlCol="0" anchor="ctr"/>
          <a:lstStyle/>
          <a:p>
            <a:pPr algn="ctr" indent="0" marL="0">
              <a:buNone/>
            </a:pPr>
            <a:r>
              <a:rPr lang="en-US" sz="2200" dirty="0">
                <a:solidFill>
                  <a:srgbClr val="000000"/>
                </a:solidFill>
                <a:latin typeface="Meiryo" pitchFamily="34" charset="0"/>
                <a:ea typeface="Meiryo" pitchFamily="34" charset="-122"/>
                <a:cs typeface="Meiryo" pitchFamily="34" charset="-120"/>
              </a:rPr>
              <a:t>📉</a:t>
            </a:r>
            <a:endParaRPr lang="en-US" sz="2200" dirty="0"/>
          </a:p>
        </p:txBody>
      </p:sp>
      <p:sp>
        <p:nvSpPr>
          <p:cNvPr id="20" name="Text 18"/>
          <p:cNvSpPr/>
          <p:nvPr/>
        </p:nvSpPr>
        <p:spPr>
          <a:xfrm>
            <a:off x="365760" y="4251960"/>
            <a:ext cx="777240" cy="274320"/>
          </a:xfrm>
          <a:prstGeom prst="rect">
            <a:avLst/>
          </a:prstGeom>
          <a:noFill/>
          <a:ln/>
        </p:spPr>
        <p:txBody>
          <a:bodyPr wrap="square" rtlCol="0" anchor="ctr"/>
          <a:lstStyle/>
          <a:p>
            <a:pPr algn="ctr" indent="0" marL="0">
              <a:buNone/>
            </a:pPr>
            <a:r>
              <a:rPr lang="en-US" sz="850" dirty="0">
                <a:solidFill>
                  <a:srgbClr val="EEDDD0"/>
                </a:solidFill>
                <a:latin typeface="Meiryo" pitchFamily="34" charset="0"/>
                <a:ea typeface="Meiryo" pitchFamily="34" charset="-122"/>
                <a:cs typeface="Meiryo" pitchFamily="34" charset="-120"/>
              </a:rPr>
              <a:t>Point 03</a:t>
            </a:r>
            <a:endParaRPr lang="en-US" sz="850" dirty="0"/>
          </a:p>
        </p:txBody>
      </p:sp>
      <p:sp>
        <p:nvSpPr>
          <p:cNvPr id="21" name="Text 19"/>
          <p:cNvSpPr/>
          <p:nvPr/>
        </p:nvSpPr>
        <p:spPr>
          <a:xfrm>
            <a:off x="1280160" y="3749040"/>
            <a:ext cx="7315200" cy="347472"/>
          </a:xfrm>
          <a:prstGeom prst="rect">
            <a:avLst/>
          </a:prstGeom>
          <a:noFill/>
          <a:ln/>
        </p:spPr>
        <p:txBody>
          <a:bodyPr wrap="square" rtlCol="0" anchor="ctr"/>
          <a:lstStyle/>
          <a:p>
            <a:pPr indent="0" marL="0">
              <a:buNone/>
            </a:pPr>
            <a:r>
              <a:rPr lang="en-US" sz="1600" b="1" dirty="0">
                <a:solidFill>
                  <a:srgbClr val="0D3B45"/>
                </a:solidFill>
                <a:latin typeface="Meiryo" pitchFamily="34" charset="0"/>
                <a:ea typeface="Meiryo" pitchFamily="34" charset="-122"/>
                <a:cs typeface="Meiryo" pitchFamily="34" charset="-120"/>
              </a:rPr>
              <a:t>残存年数が短くなると価値が下がりやすい</a:t>
            </a:r>
            <a:endParaRPr lang="en-US" sz="1600" dirty="0"/>
          </a:p>
        </p:txBody>
      </p:sp>
      <p:sp>
        <p:nvSpPr>
          <p:cNvPr id="22" name="Text 20"/>
          <p:cNvSpPr/>
          <p:nvPr/>
        </p:nvSpPr>
        <p:spPr>
          <a:xfrm>
            <a:off x="1280160" y="4114800"/>
            <a:ext cx="7315200" cy="59436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残存年数が少なくなるほど将来価値が下がり、売却しにくくなるリスクがあります。特に残存30年以下では注意が必要です。定借ナビの資産価値グラフで実際の取引データを確認できます。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3B45"/>
          </a:solidFill>
          <a:ln w="12700">
            <a:solidFill>
              <a:srgbClr val="0D3B45"/>
            </a:solidFill>
            <a:prstDash val="solid"/>
          </a:ln>
        </p:spPr>
      </p:sp>
      <p:sp>
        <p:nvSpPr>
          <p:cNvPr id="3" name="Shape 1"/>
          <p:cNvSpPr/>
          <p:nvPr/>
        </p:nvSpPr>
        <p:spPr>
          <a:xfrm>
            <a:off x="0" y="0"/>
            <a:ext cx="137160" cy="914400"/>
          </a:xfrm>
          <a:prstGeom prst="rect">
            <a:avLst/>
          </a:prstGeom>
          <a:solidFill>
            <a:srgbClr val="00A896"/>
          </a:solidFill>
          <a:ln w="12700">
            <a:solidFill>
              <a:srgbClr val="00A896"/>
            </a:solidFill>
            <a:prstDash val="solid"/>
          </a:ln>
        </p:spPr>
      </p:sp>
      <p:sp>
        <p:nvSpPr>
          <p:cNvPr id="4" name="Text 2"/>
          <p:cNvSpPr/>
          <p:nvPr/>
        </p:nvSpPr>
        <p:spPr>
          <a:xfrm>
            <a:off x="365760" y="91440"/>
            <a:ext cx="8229600" cy="6858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04  費用のしくみ</a:t>
            </a:r>
            <a:endParaRPr lang="en-US" sz="2200" dirty="0"/>
          </a:p>
        </p:txBody>
      </p:sp>
      <p:sp>
        <p:nvSpPr>
          <p:cNvPr id="5" name="Shape 3"/>
          <p:cNvSpPr/>
          <p:nvPr/>
        </p:nvSpPr>
        <p:spPr>
          <a:xfrm>
            <a:off x="365760" y="1005840"/>
            <a:ext cx="8412480" cy="384048"/>
          </a:xfrm>
          <a:prstGeom prst="rect">
            <a:avLst/>
          </a:prstGeom>
          <a:solidFill>
            <a:srgbClr val="028090"/>
          </a:solidFill>
          <a:ln w="12700">
            <a:solidFill>
              <a:srgbClr val="028090"/>
            </a:solidFill>
            <a:prstDash val="solid"/>
          </a:ln>
        </p:spPr>
      </p:sp>
      <p:sp>
        <p:nvSpPr>
          <p:cNvPr id="6" name="Text 4"/>
          <p:cNvSpPr/>
          <p:nvPr/>
        </p:nvSpPr>
        <p:spPr>
          <a:xfrm>
            <a:off x="502920" y="1042416"/>
            <a:ext cx="8229600" cy="310896"/>
          </a:xfrm>
          <a:prstGeom prst="rect">
            <a:avLst/>
          </a:prstGeom>
          <a:noFill/>
          <a:ln/>
        </p:spPr>
        <p:txBody>
          <a:bodyPr wrap="square" rtlCol="0" anchor="ctr"/>
          <a:lstStyle/>
          <a:p>
            <a:pPr indent="0" marL="0">
              <a:buNone/>
            </a:pPr>
            <a:r>
              <a:rPr lang="en-US" sz="1400" b="1" dirty="0">
                <a:solidFill>
                  <a:srgbClr val="FFFFFF"/>
                </a:solidFill>
                <a:latin typeface="Meiryo" pitchFamily="34" charset="0"/>
                <a:ea typeface="Meiryo" pitchFamily="34" charset="-122"/>
                <a:cs typeface="Meiryo" pitchFamily="34" charset="-120"/>
              </a:rPr>
              <a:t>【購入時】一時コスト</a:t>
            </a:r>
            <a:endParaRPr lang="en-US" sz="1400" dirty="0"/>
          </a:p>
        </p:txBody>
      </p:sp>
      <p:sp>
        <p:nvSpPr>
          <p:cNvPr id="7" name="Shape 5"/>
          <p:cNvSpPr/>
          <p:nvPr/>
        </p:nvSpPr>
        <p:spPr>
          <a:xfrm>
            <a:off x="365760" y="1444752"/>
            <a:ext cx="8412480" cy="411480"/>
          </a:xfrm>
          <a:prstGeom prst="rect">
            <a:avLst/>
          </a:prstGeom>
          <a:solidFill>
            <a:srgbClr val="E8F5F5"/>
          </a:solidFill>
          <a:ln w="12700">
            <a:solidFill>
              <a:srgbClr val="C4E0E2"/>
            </a:solidFill>
            <a:prstDash val="solid"/>
          </a:ln>
        </p:spPr>
      </p:sp>
      <p:sp>
        <p:nvSpPr>
          <p:cNvPr id="8" name="Text 6"/>
          <p:cNvSpPr/>
          <p:nvPr/>
        </p:nvSpPr>
        <p:spPr>
          <a:xfrm>
            <a:off x="502920" y="1517904"/>
            <a:ext cx="1645920" cy="256032"/>
          </a:xfrm>
          <a:prstGeom prst="rect">
            <a:avLst/>
          </a:prstGeom>
          <a:noFill/>
          <a:ln/>
        </p:spPr>
        <p:txBody>
          <a:bodyPr wrap="square" rtlCol="0" anchor="ctr"/>
          <a:lstStyle/>
          <a:p>
            <a:pPr indent="0" marL="0">
              <a:buNone/>
            </a:pPr>
            <a:r>
              <a:rPr lang="en-US" sz="1200" b="1" dirty="0">
                <a:solidFill>
                  <a:srgbClr val="028090"/>
                </a:solidFill>
                <a:latin typeface="Meiryo" pitchFamily="34" charset="0"/>
                <a:ea typeface="Meiryo" pitchFamily="34" charset="-122"/>
                <a:cs typeface="Meiryo" pitchFamily="34" charset="-120"/>
              </a:rPr>
              <a:t>分譲価格</a:t>
            </a:r>
            <a:endParaRPr lang="en-US" sz="1200" dirty="0"/>
          </a:p>
        </p:txBody>
      </p:sp>
      <p:sp>
        <p:nvSpPr>
          <p:cNvPr id="9" name="Text 7"/>
          <p:cNvSpPr/>
          <p:nvPr/>
        </p:nvSpPr>
        <p:spPr>
          <a:xfrm>
            <a:off x="2194560" y="1517904"/>
            <a:ext cx="4937760" cy="256032"/>
          </a:xfrm>
          <a:prstGeom prst="rect">
            <a:avLst/>
          </a:prstGeom>
          <a:noFill/>
          <a:ln/>
        </p:spPr>
        <p:txBody>
          <a:bodyPr wrap="square" rtlCol="0" anchor="ctr"/>
          <a:lstStyle/>
          <a:p>
            <a:pPr indent="0" marL="0">
              <a:buNone/>
            </a:pPr>
            <a:r>
              <a:rPr lang="en-US" sz="1100" dirty="0">
                <a:solidFill>
                  <a:srgbClr val="1E3A3A"/>
                </a:solidFill>
                <a:latin typeface="Meiryo" pitchFamily="34" charset="0"/>
                <a:ea typeface="Meiryo" pitchFamily="34" charset="-122"/>
                <a:cs typeface="Meiryo" pitchFamily="34" charset="-120"/>
              </a:rPr>
              <a:t>建物 ＋ 権利金が含まれる。土地代は含まない。</a:t>
            </a:r>
            <a:endParaRPr lang="en-US" sz="1100" dirty="0"/>
          </a:p>
        </p:txBody>
      </p:sp>
      <p:sp>
        <p:nvSpPr>
          <p:cNvPr id="10" name="Text 8"/>
          <p:cNvSpPr/>
          <p:nvPr/>
        </p:nvSpPr>
        <p:spPr>
          <a:xfrm>
            <a:off x="7178040" y="1517904"/>
            <a:ext cx="1508760" cy="256032"/>
          </a:xfrm>
          <a:prstGeom prst="rect">
            <a:avLst/>
          </a:prstGeom>
          <a:noFill/>
          <a:ln/>
        </p:spPr>
        <p:txBody>
          <a:bodyPr wrap="square" rtlCol="0" anchor="ctr"/>
          <a:lstStyle/>
          <a:p>
            <a:pPr algn="r" indent="0" marL="0">
              <a:buNone/>
            </a:pPr>
            <a:r>
              <a:rPr lang="en-US" sz="1000" dirty="0">
                <a:solidFill>
                  <a:srgbClr val="5E7C7C"/>
                </a:solidFill>
                <a:latin typeface="Meiryo" pitchFamily="34" charset="0"/>
                <a:ea typeface="Meiryo" pitchFamily="34" charset="-122"/>
                <a:cs typeface="Meiryo" pitchFamily="34" charset="-120"/>
              </a:rPr>
              <a:t>所有権より割安傾向</a:t>
            </a:r>
            <a:endParaRPr lang="en-US" sz="1000" dirty="0"/>
          </a:p>
        </p:txBody>
      </p:sp>
      <p:sp>
        <p:nvSpPr>
          <p:cNvPr id="11" name="Shape 9"/>
          <p:cNvSpPr/>
          <p:nvPr/>
        </p:nvSpPr>
        <p:spPr>
          <a:xfrm>
            <a:off x="365760" y="1901952"/>
            <a:ext cx="8412480" cy="411480"/>
          </a:xfrm>
          <a:prstGeom prst="rect">
            <a:avLst/>
          </a:prstGeom>
          <a:solidFill>
            <a:srgbClr val="FFFFFF"/>
          </a:solidFill>
          <a:ln w="12700">
            <a:solidFill>
              <a:srgbClr val="C4E0E2"/>
            </a:solidFill>
            <a:prstDash val="solid"/>
          </a:ln>
        </p:spPr>
      </p:sp>
      <p:sp>
        <p:nvSpPr>
          <p:cNvPr id="12" name="Text 10"/>
          <p:cNvSpPr/>
          <p:nvPr/>
        </p:nvSpPr>
        <p:spPr>
          <a:xfrm>
            <a:off x="502920" y="1975104"/>
            <a:ext cx="1645920" cy="256032"/>
          </a:xfrm>
          <a:prstGeom prst="rect">
            <a:avLst/>
          </a:prstGeom>
          <a:noFill/>
          <a:ln/>
        </p:spPr>
        <p:txBody>
          <a:bodyPr wrap="square" rtlCol="0" anchor="ctr"/>
          <a:lstStyle/>
          <a:p>
            <a:pPr indent="0" marL="0">
              <a:buNone/>
            </a:pPr>
            <a:r>
              <a:rPr lang="en-US" sz="1200" b="1" dirty="0">
                <a:solidFill>
                  <a:srgbClr val="028090"/>
                </a:solidFill>
                <a:latin typeface="Meiryo" pitchFamily="34" charset="0"/>
                <a:ea typeface="Meiryo" pitchFamily="34" charset="-122"/>
                <a:cs typeface="Meiryo" pitchFamily="34" charset="-120"/>
              </a:rPr>
              <a:t>権利金</a:t>
            </a:r>
            <a:endParaRPr lang="en-US" sz="1200" dirty="0"/>
          </a:p>
        </p:txBody>
      </p:sp>
      <p:sp>
        <p:nvSpPr>
          <p:cNvPr id="13" name="Text 11"/>
          <p:cNvSpPr/>
          <p:nvPr/>
        </p:nvSpPr>
        <p:spPr>
          <a:xfrm>
            <a:off x="2194560" y="1975104"/>
            <a:ext cx="4937760" cy="256032"/>
          </a:xfrm>
          <a:prstGeom prst="rect">
            <a:avLst/>
          </a:prstGeom>
          <a:noFill/>
          <a:ln/>
        </p:spPr>
        <p:txBody>
          <a:bodyPr wrap="square" rtlCol="0" anchor="ctr"/>
          <a:lstStyle/>
          <a:p>
            <a:pPr indent="0" marL="0">
              <a:buNone/>
            </a:pPr>
            <a:r>
              <a:rPr lang="en-US" sz="1100" dirty="0">
                <a:solidFill>
                  <a:srgbClr val="1E3A3A"/>
                </a:solidFill>
                <a:latin typeface="Meiryo" pitchFamily="34" charset="0"/>
                <a:ea typeface="Meiryo" pitchFamily="34" charset="-122"/>
                <a:cs typeface="Meiryo" pitchFamily="34" charset="-120"/>
              </a:rPr>
              <a:t>借地権設定の対価。返還されない。</a:t>
            </a:r>
            <a:endParaRPr lang="en-US" sz="1100" dirty="0"/>
          </a:p>
        </p:txBody>
      </p:sp>
      <p:sp>
        <p:nvSpPr>
          <p:cNvPr id="14" name="Text 12"/>
          <p:cNvSpPr/>
          <p:nvPr/>
        </p:nvSpPr>
        <p:spPr>
          <a:xfrm>
            <a:off x="7178040" y="1975104"/>
            <a:ext cx="1508760" cy="256032"/>
          </a:xfrm>
          <a:prstGeom prst="rect">
            <a:avLst/>
          </a:prstGeom>
          <a:noFill/>
          <a:ln/>
        </p:spPr>
        <p:txBody>
          <a:bodyPr wrap="square" rtlCol="0" anchor="ctr"/>
          <a:lstStyle/>
          <a:p>
            <a:pPr algn="r" indent="0" marL="0">
              <a:buNone/>
            </a:pPr>
            <a:r>
              <a:rPr lang="en-US" sz="1000" dirty="0">
                <a:solidFill>
                  <a:srgbClr val="5E7C7C"/>
                </a:solidFill>
                <a:latin typeface="Meiryo" pitchFamily="34" charset="0"/>
                <a:ea typeface="Meiryo" pitchFamily="34" charset="-122"/>
                <a:cs typeface="Meiryo" pitchFamily="34" charset="-120"/>
              </a:rPr>
              <a:t>分譲価格内訳</a:t>
            </a:r>
            <a:endParaRPr lang="en-US" sz="1000" dirty="0"/>
          </a:p>
        </p:txBody>
      </p:sp>
      <p:sp>
        <p:nvSpPr>
          <p:cNvPr id="15" name="Shape 13"/>
          <p:cNvSpPr/>
          <p:nvPr/>
        </p:nvSpPr>
        <p:spPr>
          <a:xfrm>
            <a:off x="365760" y="2359152"/>
            <a:ext cx="8412480" cy="411480"/>
          </a:xfrm>
          <a:prstGeom prst="rect">
            <a:avLst/>
          </a:prstGeom>
          <a:solidFill>
            <a:srgbClr val="E8F5F5"/>
          </a:solidFill>
          <a:ln w="12700">
            <a:solidFill>
              <a:srgbClr val="C4E0E2"/>
            </a:solidFill>
            <a:prstDash val="solid"/>
          </a:ln>
        </p:spPr>
      </p:sp>
      <p:sp>
        <p:nvSpPr>
          <p:cNvPr id="16" name="Text 14"/>
          <p:cNvSpPr/>
          <p:nvPr/>
        </p:nvSpPr>
        <p:spPr>
          <a:xfrm>
            <a:off x="502920" y="2432304"/>
            <a:ext cx="1645920" cy="256032"/>
          </a:xfrm>
          <a:prstGeom prst="rect">
            <a:avLst/>
          </a:prstGeom>
          <a:noFill/>
          <a:ln/>
        </p:spPr>
        <p:txBody>
          <a:bodyPr wrap="square" rtlCol="0" anchor="ctr"/>
          <a:lstStyle/>
          <a:p>
            <a:pPr indent="0" marL="0">
              <a:buNone/>
            </a:pPr>
            <a:r>
              <a:rPr lang="en-US" sz="1200" b="1" dirty="0">
                <a:solidFill>
                  <a:srgbClr val="028090"/>
                </a:solidFill>
                <a:latin typeface="Meiryo" pitchFamily="34" charset="0"/>
                <a:ea typeface="Meiryo" pitchFamily="34" charset="-122"/>
                <a:cs typeface="Meiryo" pitchFamily="34" charset="-120"/>
              </a:rPr>
              <a:t>保証金（任意）</a:t>
            </a:r>
            <a:endParaRPr lang="en-US" sz="1200" dirty="0"/>
          </a:p>
        </p:txBody>
      </p:sp>
      <p:sp>
        <p:nvSpPr>
          <p:cNvPr id="17" name="Text 15"/>
          <p:cNvSpPr/>
          <p:nvPr/>
        </p:nvSpPr>
        <p:spPr>
          <a:xfrm>
            <a:off x="2194560" y="2432304"/>
            <a:ext cx="4937760" cy="256032"/>
          </a:xfrm>
          <a:prstGeom prst="rect">
            <a:avLst/>
          </a:prstGeom>
          <a:noFill/>
          <a:ln/>
        </p:spPr>
        <p:txBody>
          <a:bodyPr wrap="square" rtlCol="0" anchor="ctr"/>
          <a:lstStyle/>
          <a:p>
            <a:pPr indent="0" marL="0">
              <a:buNone/>
            </a:pPr>
            <a:r>
              <a:rPr lang="en-US" sz="1100" dirty="0">
                <a:solidFill>
                  <a:srgbClr val="1E3A3A"/>
                </a:solidFill>
                <a:latin typeface="Meiryo" pitchFamily="34" charset="0"/>
                <a:ea typeface="Meiryo" pitchFamily="34" charset="-122"/>
                <a:cs typeface="Meiryo" pitchFamily="34" charset="-120"/>
              </a:rPr>
              <a:t>担保目的。期間満了時に全額返還（通例）。</a:t>
            </a:r>
            <a:endParaRPr lang="en-US" sz="1100" dirty="0"/>
          </a:p>
        </p:txBody>
      </p:sp>
      <p:sp>
        <p:nvSpPr>
          <p:cNvPr id="18" name="Text 16"/>
          <p:cNvSpPr/>
          <p:nvPr/>
        </p:nvSpPr>
        <p:spPr>
          <a:xfrm>
            <a:off x="7178040" y="2432304"/>
            <a:ext cx="1508760" cy="256032"/>
          </a:xfrm>
          <a:prstGeom prst="rect">
            <a:avLst/>
          </a:prstGeom>
          <a:noFill/>
          <a:ln/>
        </p:spPr>
        <p:txBody>
          <a:bodyPr wrap="square" rtlCol="0" anchor="ctr"/>
          <a:lstStyle/>
          <a:p>
            <a:pPr algn="r" indent="0" marL="0">
              <a:buNone/>
            </a:pPr>
            <a:r>
              <a:rPr lang="en-US" sz="1000" dirty="0">
                <a:solidFill>
                  <a:srgbClr val="5E7C7C"/>
                </a:solidFill>
                <a:latin typeface="Meiryo" pitchFamily="34" charset="0"/>
                <a:ea typeface="Meiryo" pitchFamily="34" charset="-122"/>
                <a:cs typeface="Meiryo" pitchFamily="34" charset="-120"/>
              </a:rPr>
              <a:t>物件による</a:t>
            </a:r>
            <a:endParaRPr lang="en-US" sz="1000" dirty="0"/>
          </a:p>
        </p:txBody>
      </p:sp>
      <p:sp>
        <p:nvSpPr>
          <p:cNvPr id="19" name="Shape 17"/>
          <p:cNvSpPr/>
          <p:nvPr/>
        </p:nvSpPr>
        <p:spPr>
          <a:xfrm>
            <a:off x="365760" y="2852928"/>
            <a:ext cx="8412480" cy="384048"/>
          </a:xfrm>
          <a:prstGeom prst="rect">
            <a:avLst/>
          </a:prstGeom>
          <a:solidFill>
            <a:srgbClr val="D97706"/>
          </a:solidFill>
          <a:ln w="12700">
            <a:solidFill>
              <a:srgbClr val="D97706"/>
            </a:solidFill>
            <a:prstDash val="solid"/>
          </a:ln>
        </p:spPr>
      </p:sp>
      <p:sp>
        <p:nvSpPr>
          <p:cNvPr id="20" name="Text 18"/>
          <p:cNvSpPr/>
          <p:nvPr/>
        </p:nvSpPr>
        <p:spPr>
          <a:xfrm>
            <a:off x="502920" y="2889504"/>
            <a:ext cx="8229600" cy="310896"/>
          </a:xfrm>
          <a:prstGeom prst="rect">
            <a:avLst/>
          </a:prstGeom>
          <a:noFill/>
          <a:ln/>
        </p:spPr>
        <p:txBody>
          <a:bodyPr wrap="square" rtlCol="0" anchor="ctr"/>
          <a:lstStyle/>
          <a:p>
            <a:pPr indent="0" marL="0">
              <a:buNone/>
            </a:pPr>
            <a:r>
              <a:rPr lang="en-US" sz="1400" b="1" dirty="0">
                <a:solidFill>
                  <a:srgbClr val="FFFFFF"/>
                </a:solidFill>
                <a:latin typeface="Meiryo" pitchFamily="34" charset="0"/>
                <a:ea typeface="Meiryo" pitchFamily="34" charset="-122"/>
                <a:cs typeface="Meiryo" pitchFamily="34" charset="-120"/>
              </a:rPr>
              <a:t>【毎月】ランニングコスト</a:t>
            </a:r>
            <a:endParaRPr lang="en-US" sz="1400" dirty="0"/>
          </a:p>
        </p:txBody>
      </p:sp>
      <p:sp>
        <p:nvSpPr>
          <p:cNvPr id="21" name="Shape 19"/>
          <p:cNvSpPr/>
          <p:nvPr/>
        </p:nvSpPr>
        <p:spPr>
          <a:xfrm>
            <a:off x="365760" y="3291840"/>
            <a:ext cx="8412480" cy="384048"/>
          </a:xfrm>
          <a:prstGeom prst="rect">
            <a:avLst/>
          </a:prstGeom>
          <a:solidFill>
            <a:srgbClr val="FFF8E8"/>
          </a:solidFill>
          <a:ln w="12700">
            <a:solidFill>
              <a:srgbClr val="EEDDBB"/>
            </a:solidFill>
            <a:prstDash val="solid"/>
          </a:ln>
        </p:spPr>
      </p:sp>
      <p:sp>
        <p:nvSpPr>
          <p:cNvPr id="22" name="Text 20"/>
          <p:cNvSpPr/>
          <p:nvPr/>
        </p:nvSpPr>
        <p:spPr>
          <a:xfrm>
            <a:off x="502920" y="3355848"/>
            <a:ext cx="1828800" cy="256032"/>
          </a:xfrm>
          <a:prstGeom prst="rect">
            <a:avLst/>
          </a:prstGeom>
          <a:noFill/>
          <a:ln/>
        </p:spPr>
        <p:txBody>
          <a:bodyPr wrap="square" rtlCol="0" anchor="ctr"/>
          <a:lstStyle/>
          <a:p>
            <a:pPr indent="0" marL="0">
              <a:buNone/>
            </a:pPr>
            <a:r>
              <a:rPr lang="en-US" sz="1200" b="1" dirty="0">
                <a:solidFill>
                  <a:srgbClr val="D97706"/>
                </a:solidFill>
                <a:latin typeface="Meiryo" pitchFamily="34" charset="0"/>
                <a:ea typeface="Meiryo" pitchFamily="34" charset="-122"/>
                <a:cs typeface="Meiryo" pitchFamily="34" charset="-120"/>
              </a:rPr>
              <a:t>地代（賃料）</a:t>
            </a:r>
            <a:endParaRPr lang="en-US" sz="1200" dirty="0"/>
          </a:p>
        </p:txBody>
      </p:sp>
      <p:sp>
        <p:nvSpPr>
          <p:cNvPr id="23" name="Text 21"/>
          <p:cNvSpPr/>
          <p:nvPr/>
        </p:nvSpPr>
        <p:spPr>
          <a:xfrm>
            <a:off x="2377440" y="3355848"/>
            <a:ext cx="4846320" cy="256032"/>
          </a:xfrm>
          <a:prstGeom prst="rect">
            <a:avLst/>
          </a:prstGeom>
          <a:noFill/>
          <a:ln/>
        </p:spPr>
        <p:txBody>
          <a:bodyPr wrap="square" rtlCol="0" anchor="ctr"/>
          <a:lstStyle/>
          <a:p>
            <a:pPr indent="0" marL="0">
              <a:buNone/>
            </a:pPr>
            <a:r>
              <a:rPr lang="en-US" sz="1100" dirty="0">
                <a:solidFill>
                  <a:srgbClr val="1E3A3A"/>
                </a:solidFill>
                <a:latin typeface="Meiryo" pitchFamily="34" charset="0"/>
                <a:ea typeface="Meiryo" pitchFamily="34" charset="-122"/>
                <a:cs typeface="Meiryo" pitchFamily="34" charset="-120"/>
              </a:rPr>
              <a:t>月数千円〜数万円。3年ごとに固都税連動で改定。</a:t>
            </a:r>
            <a:endParaRPr lang="en-US" sz="1100" dirty="0"/>
          </a:p>
        </p:txBody>
      </p:sp>
      <p:sp>
        <p:nvSpPr>
          <p:cNvPr id="24" name="Text 22"/>
          <p:cNvSpPr/>
          <p:nvPr/>
        </p:nvSpPr>
        <p:spPr>
          <a:xfrm>
            <a:off x="7223760" y="3355848"/>
            <a:ext cx="1463040" cy="256032"/>
          </a:xfrm>
          <a:prstGeom prst="rect">
            <a:avLst/>
          </a:prstGeom>
          <a:noFill/>
          <a:ln/>
        </p:spPr>
        <p:txBody>
          <a:bodyPr wrap="square" rtlCol="0" anchor="ctr"/>
          <a:lstStyle/>
          <a:p>
            <a:pPr algn="r" indent="0" marL="0">
              <a:buNone/>
            </a:pPr>
            <a:r>
              <a:rPr lang="en-US" sz="1000" b="1" dirty="0">
                <a:solidFill>
                  <a:srgbClr val="D97706"/>
                </a:solidFill>
                <a:latin typeface="Meiryo" pitchFamily="34" charset="0"/>
                <a:ea typeface="Meiryo" pitchFamily="34" charset="-122"/>
                <a:cs typeface="Meiryo" pitchFamily="34" charset="-120"/>
              </a:rPr>
              <a:t>⚠️ 要確認</a:t>
            </a:r>
            <a:endParaRPr lang="en-US" sz="1000" dirty="0"/>
          </a:p>
        </p:txBody>
      </p:sp>
      <p:sp>
        <p:nvSpPr>
          <p:cNvPr id="25" name="Shape 23"/>
          <p:cNvSpPr/>
          <p:nvPr/>
        </p:nvSpPr>
        <p:spPr>
          <a:xfrm>
            <a:off x="365760" y="3721608"/>
            <a:ext cx="8412480" cy="384048"/>
          </a:xfrm>
          <a:prstGeom prst="rect">
            <a:avLst/>
          </a:prstGeom>
          <a:solidFill>
            <a:srgbClr val="FFFFFF"/>
          </a:solidFill>
          <a:ln w="12700">
            <a:solidFill>
              <a:srgbClr val="EEDDBB"/>
            </a:solidFill>
            <a:prstDash val="solid"/>
          </a:ln>
        </p:spPr>
      </p:sp>
      <p:sp>
        <p:nvSpPr>
          <p:cNvPr id="26" name="Text 24"/>
          <p:cNvSpPr/>
          <p:nvPr/>
        </p:nvSpPr>
        <p:spPr>
          <a:xfrm>
            <a:off x="502920" y="3785616"/>
            <a:ext cx="1828800" cy="256032"/>
          </a:xfrm>
          <a:prstGeom prst="rect">
            <a:avLst/>
          </a:prstGeom>
          <a:noFill/>
          <a:ln/>
        </p:spPr>
        <p:txBody>
          <a:bodyPr wrap="square" rtlCol="0" anchor="ctr"/>
          <a:lstStyle/>
          <a:p>
            <a:pPr indent="0" marL="0">
              <a:buNone/>
            </a:pPr>
            <a:r>
              <a:rPr lang="en-US" sz="1200" b="1" dirty="0">
                <a:solidFill>
                  <a:srgbClr val="D97706"/>
                </a:solidFill>
                <a:latin typeface="Meiryo" pitchFamily="34" charset="0"/>
                <a:ea typeface="Meiryo" pitchFamily="34" charset="-122"/>
                <a:cs typeface="Meiryo" pitchFamily="34" charset="-120"/>
              </a:rPr>
              <a:t>解体準備積立金</a:t>
            </a:r>
            <a:endParaRPr lang="en-US" sz="1200" dirty="0"/>
          </a:p>
        </p:txBody>
      </p:sp>
      <p:sp>
        <p:nvSpPr>
          <p:cNvPr id="27" name="Text 25"/>
          <p:cNvSpPr/>
          <p:nvPr/>
        </p:nvSpPr>
        <p:spPr>
          <a:xfrm>
            <a:off x="2377440" y="3785616"/>
            <a:ext cx="4846320" cy="256032"/>
          </a:xfrm>
          <a:prstGeom prst="rect">
            <a:avLst/>
          </a:prstGeom>
          <a:noFill/>
          <a:ln/>
        </p:spPr>
        <p:txBody>
          <a:bodyPr wrap="square" rtlCol="0" anchor="ctr"/>
          <a:lstStyle/>
          <a:p>
            <a:pPr indent="0" marL="0">
              <a:buNone/>
            </a:pPr>
            <a:r>
              <a:rPr lang="en-US" sz="1100" dirty="0">
                <a:solidFill>
                  <a:srgbClr val="1E3A3A"/>
                </a:solidFill>
                <a:latin typeface="Meiryo" pitchFamily="34" charset="0"/>
                <a:ea typeface="Meiryo" pitchFamily="34" charset="-122"/>
                <a:cs typeface="Meiryo" pitchFamily="34" charset="-120"/>
              </a:rPr>
              <a:t>月数千円程度。期間満了時の解体費用を積立。</a:t>
            </a:r>
            <a:endParaRPr lang="en-US" sz="1100" dirty="0"/>
          </a:p>
        </p:txBody>
      </p:sp>
      <p:sp>
        <p:nvSpPr>
          <p:cNvPr id="28" name="Text 26"/>
          <p:cNvSpPr/>
          <p:nvPr/>
        </p:nvSpPr>
        <p:spPr>
          <a:xfrm>
            <a:off x="7223760" y="3785616"/>
            <a:ext cx="1463040" cy="256032"/>
          </a:xfrm>
          <a:prstGeom prst="rect">
            <a:avLst/>
          </a:prstGeom>
          <a:noFill/>
          <a:ln/>
        </p:spPr>
        <p:txBody>
          <a:bodyPr wrap="square" rtlCol="0" anchor="ctr"/>
          <a:lstStyle/>
          <a:p>
            <a:pPr algn="r" indent="0" marL="0">
              <a:buNone/>
            </a:pPr>
            <a:r>
              <a:rPr lang="en-US" sz="1000" b="1" dirty="0">
                <a:solidFill>
                  <a:srgbClr val="D97706"/>
                </a:solidFill>
                <a:latin typeface="Meiryo" pitchFamily="34" charset="0"/>
                <a:ea typeface="Meiryo" pitchFamily="34" charset="-122"/>
                <a:cs typeface="Meiryo" pitchFamily="34" charset="-120"/>
              </a:rPr>
              <a:t>管理組合が管理</a:t>
            </a:r>
            <a:endParaRPr lang="en-US" sz="1000" dirty="0"/>
          </a:p>
        </p:txBody>
      </p:sp>
      <p:sp>
        <p:nvSpPr>
          <p:cNvPr id="29" name="Shape 27"/>
          <p:cNvSpPr/>
          <p:nvPr/>
        </p:nvSpPr>
        <p:spPr>
          <a:xfrm>
            <a:off x="365760" y="4151376"/>
            <a:ext cx="8412480" cy="384048"/>
          </a:xfrm>
          <a:prstGeom prst="rect">
            <a:avLst/>
          </a:prstGeom>
          <a:solidFill>
            <a:srgbClr val="FFF8E8"/>
          </a:solidFill>
          <a:ln w="12700">
            <a:solidFill>
              <a:srgbClr val="EEDDBB"/>
            </a:solidFill>
            <a:prstDash val="solid"/>
          </a:ln>
        </p:spPr>
      </p:sp>
      <p:sp>
        <p:nvSpPr>
          <p:cNvPr id="30" name="Text 28"/>
          <p:cNvSpPr/>
          <p:nvPr/>
        </p:nvSpPr>
        <p:spPr>
          <a:xfrm>
            <a:off x="502920" y="4215384"/>
            <a:ext cx="1828800" cy="256032"/>
          </a:xfrm>
          <a:prstGeom prst="rect">
            <a:avLst/>
          </a:prstGeom>
          <a:noFill/>
          <a:ln/>
        </p:spPr>
        <p:txBody>
          <a:bodyPr wrap="square" rtlCol="0" anchor="ctr"/>
          <a:lstStyle/>
          <a:p>
            <a:pPr indent="0" marL="0">
              <a:buNone/>
            </a:pPr>
            <a:r>
              <a:rPr lang="en-US" sz="1200" b="1" dirty="0">
                <a:solidFill>
                  <a:srgbClr val="D97706"/>
                </a:solidFill>
                <a:latin typeface="Meiryo" pitchFamily="34" charset="0"/>
                <a:ea typeface="Meiryo" pitchFamily="34" charset="-122"/>
                <a:cs typeface="Meiryo" pitchFamily="34" charset="-120"/>
              </a:rPr>
              <a:t>管理費・修繕積立金</a:t>
            </a:r>
            <a:endParaRPr lang="en-US" sz="1200" dirty="0"/>
          </a:p>
        </p:txBody>
      </p:sp>
      <p:sp>
        <p:nvSpPr>
          <p:cNvPr id="31" name="Text 29"/>
          <p:cNvSpPr/>
          <p:nvPr/>
        </p:nvSpPr>
        <p:spPr>
          <a:xfrm>
            <a:off x="2377440" y="4215384"/>
            <a:ext cx="4846320" cy="256032"/>
          </a:xfrm>
          <a:prstGeom prst="rect">
            <a:avLst/>
          </a:prstGeom>
          <a:noFill/>
          <a:ln/>
        </p:spPr>
        <p:txBody>
          <a:bodyPr wrap="square" rtlCol="0" anchor="ctr"/>
          <a:lstStyle/>
          <a:p>
            <a:pPr indent="0" marL="0">
              <a:buNone/>
            </a:pPr>
            <a:r>
              <a:rPr lang="en-US" sz="1100" dirty="0">
                <a:solidFill>
                  <a:srgbClr val="1E3A3A"/>
                </a:solidFill>
                <a:latin typeface="Meiryo" pitchFamily="34" charset="0"/>
                <a:ea typeface="Meiryo" pitchFamily="34" charset="-122"/>
                <a:cs typeface="Meiryo" pitchFamily="34" charset="-120"/>
              </a:rPr>
              <a:t>通常のマンションと同様。</a:t>
            </a:r>
            <a:endParaRPr lang="en-US" sz="1100" dirty="0"/>
          </a:p>
        </p:txBody>
      </p:sp>
      <p:sp>
        <p:nvSpPr>
          <p:cNvPr id="32" name="Shape 30"/>
          <p:cNvSpPr/>
          <p:nvPr/>
        </p:nvSpPr>
        <p:spPr>
          <a:xfrm>
            <a:off x="365760" y="4581144"/>
            <a:ext cx="8412480" cy="384048"/>
          </a:xfrm>
          <a:prstGeom prst="rect">
            <a:avLst/>
          </a:prstGeom>
          <a:solidFill>
            <a:srgbClr val="FFFFFF"/>
          </a:solidFill>
          <a:ln w="12700">
            <a:solidFill>
              <a:srgbClr val="EEDDBB"/>
            </a:solidFill>
            <a:prstDash val="solid"/>
          </a:ln>
        </p:spPr>
      </p:sp>
      <p:sp>
        <p:nvSpPr>
          <p:cNvPr id="33" name="Text 31"/>
          <p:cNvSpPr/>
          <p:nvPr/>
        </p:nvSpPr>
        <p:spPr>
          <a:xfrm>
            <a:off x="502920" y="4645152"/>
            <a:ext cx="1828800" cy="256032"/>
          </a:xfrm>
          <a:prstGeom prst="rect">
            <a:avLst/>
          </a:prstGeom>
          <a:noFill/>
          <a:ln/>
        </p:spPr>
        <p:txBody>
          <a:bodyPr wrap="square" rtlCol="0" anchor="ctr"/>
          <a:lstStyle/>
          <a:p>
            <a:pPr indent="0" marL="0">
              <a:buNone/>
            </a:pPr>
            <a:r>
              <a:rPr lang="en-US" sz="1200" b="1" dirty="0">
                <a:solidFill>
                  <a:srgbClr val="D97706"/>
                </a:solidFill>
                <a:latin typeface="Meiryo" pitchFamily="34" charset="0"/>
                <a:ea typeface="Meiryo" pitchFamily="34" charset="-122"/>
                <a:cs typeface="Meiryo" pitchFamily="34" charset="-120"/>
              </a:rPr>
              <a:t>建物固定資産税</a:t>
            </a:r>
            <a:endParaRPr lang="en-US" sz="1200" dirty="0"/>
          </a:p>
        </p:txBody>
      </p:sp>
      <p:sp>
        <p:nvSpPr>
          <p:cNvPr id="34" name="Text 32"/>
          <p:cNvSpPr/>
          <p:nvPr/>
        </p:nvSpPr>
        <p:spPr>
          <a:xfrm>
            <a:off x="2377440" y="4645152"/>
            <a:ext cx="4846320" cy="256032"/>
          </a:xfrm>
          <a:prstGeom prst="rect">
            <a:avLst/>
          </a:prstGeom>
          <a:noFill/>
          <a:ln/>
        </p:spPr>
        <p:txBody>
          <a:bodyPr wrap="square" rtlCol="0" anchor="ctr"/>
          <a:lstStyle/>
          <a:p>
            <a:pPr indent="0" marL="0">
              <a:buNone/>
            </a:pPr>
            <a:r>
              <a:rPr lang="en-US" sz="1100" dirty="0">
                <a:solidFill>
                  <a:srgbClr val="1E3A3A"/>
                </a:solidFill>
                <a:latin typeface="Meiryo" pitchFamily="34" charset="0"/>
                <a:ea typeface="Meiryo" pitchFamily="34" charset="-122"/>
                <a:cs typeface="Meiryo" pitchFamily="34" charset="-120"/>
              </a:rPr>
              <a:t>建物のみ。土地分は地主負担。</a:t>
            </a:r>
            <a:endParaRPr lang="en-US" sz="1100" dirty="0"/>
          </a:p>
        </p:txBody>
      </p:sp>
      <p:sp>
        <p:nvSpPr>
          <p:cNvPr id="35" name="Text 33"/>
          <p:cNvSpPr/>
          <p:nvPr/>
        </p:nvSpPr>
        <p:spPr>
          <a:xfrm>
            <a:off x="7223760" y="4645152"/>
            <a:ext cx="1463040" cy="256032"/>
          </a:xfrm>
          <a:prstGeom prst="rect">
            <a:avLst/>
          </a:prstGeom>
          <a:noFill/>
          <a:ln/>
        </p:spPr>
        <p:txBody>
          <a:bodyPr wrap="square" rtlCol="0" anchor="ctr"/>
          <a:lstStyle/>
          <a:p>
            <a:pPr algn="r" indent="0" marL="0">
              <a:buNone/>
            </a:pPr>
            <a:r>
              <a:rPr lang="en-US" sz="1000" b="1" dirty="0">
                <a:solidFill>
                  <a:srgbClr val="028090"/>
                </a:solidFill>
                <a:latin typeface="Meiryo" pitchFamily="34" charset="0"/>
                <a:ea typeface="Meiryo" pitchFamily="34" charset="-122"/>
                <a:cs typeface="Meiryo" pitchFamily="34" charset="-120"/>
              </a:rPr>
              <a:t>✅ 節税メリット</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3B45"/>
          </a:solidFill>
          <a:ln w="12700">
            <a:solidFill>
              <a:srgbClr val="0D3B45"/>
            </a:solidFill>
            <a:prstDash val="solid"/>
          </a:ln>
        </p:spPr>
      </p:sp>
      <p:sp>
        <p:nvSpPr>
          <p:cNvPr id="3" name="Shape 1"/>
          <p:cNvSpPr/>
          <p:nvPr/>
        </p:nvSpPr>
        <p:spPr>
          <a:xfrm>
            <a:off x="0" y="0"/>
            <a:ext cx="137160" cy="914400"/>
          </a:xfrm>
          <a:prstGeom prst="rect">
            <a:avLst/>
          </a:prstGeom>
          <a:solidFill>
            <a:srgbClr val="00A896"/>
          </a:solidFill>
          <a:ln w="12700">
            <a:solidFill>
              <a:srgbClr val="00A896"/>
            </a:solidFill>
            <a:prstDash val="solid"/>
          </a:ln>
        </p:spPr>
      </p:sp>
      <p:sp>
        <p:nvSpPr>
          <p:cNvPr id="4" name="Text 2"/>
          <p:cNvSpPr/>
          <p:nvPr/>
        </p:nvSpPr>
        <p:spPr>
          <a:xfrm>
            <a:off x="365760" y="91440"/>
            <a:ext cx="8229600" cy="6858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04  所有権 vs 定借：費用イメージ比較</a:t>
            </a:r>
            <a:endParaRPr lang="en-US" sz="2200" dirty="0"/>
          </a:p>
        </p:txBody>
      </p:sp>
      <p:sp>
        <p:nvSpPr>
          <p:cNvPr id="5" name="Shape 3"/>
          <p:cNvSpPr/>
          <p:nvPr/>
        </p:nvSpPr>
        <p:spPr>
          <a:xfrm>
            <a:off x="365760" y="1005840"/>
            <a:ext cx="8412480" cy="457200"/>
          </a:xfrm>
          <a:prstGeom prst="rect">
            <a:avLst/>
          </a:prstGeom>
          <a:solidFill>
            <a:srgbClr val="EEF2EE"/>
          </a:solidFill>
          <a:ln w="12700">
            <a:solidFill>
              <a:srgbClr val="C8D8C8"/>
            </a:solidFill>
            <a:prstDash val="solid"/>
          </a:ln>
        </p:spPr>
      </p:sp>
      <p:sp>
        <p:nvSpPr>
          <p:cNvPr id="6" name="Text 4"/>
          <p:cNvSpPr/>
          <p:nvPr/>
        </p:nvSpPr>
        <p:spPr>
          <a:xfrm>
            <a:off x="502920" y="1060704"/>
            <a:ext cx="8229600" cy="347472"/>
          </a:xfrm>
          <a:prstGeom prst="rect">
            <a:avLst/>
          </a:prstGeom>
          <a:noFill/>
          <a:ln/>
        </p:spPr>
        <p:txBody>
          <a:bodyPr wrap="square" rtlCol="0" anchor="ctr"/>
          <a:lstStyle/>
          <a:p>
            <a:pPr indent="0" marL="0">
              <a:buNone/>
            </a:pPr>
            <a:r>
              <a:rPr lang="en-US" sz="1050" dirty="0">
                <a:solidFill>
                  <a:srgbClr val="5E7C7C"/>
                </a:solidFill>
                <a:latin typeface="Meiryo" pitchFamily="34" charset="0"/>
                <a:ea typeface="Meiryo" pitchFamily="34" charset="-122"/>
                <a:cs typeface="Meiryo" pitchFamily="34" charset="-120"/>
              </a:rPr>
              <a:t>前提条件（参考試算）：購入価格 所有権1億円 vs 定借9,000万円、住宅ローン金利2%・35年返済、自己資金1,000万円</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536192"/>
          <a:ext cx="8412480" cy="914400"/>
        </p:xfrm>
        <a:graphic>
          <a:graphicData uri="http://schemas.openxmlformats.org/drawingml/2006/table">
            <a:tbl>
              <a:tblPr/>
              <a:tblGrid>
                <a:gridCol w="2560320"/>
                <a:gridCol w="2743200"/>
                <a:gridCol w="3108960"/>
              </a:tblGrid>
              <a:tr h="411480">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費用項目</a:t>
                      </a:r>
                      <a:endParaRPr lang="en-US" sz="12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D3B45"/>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所有権マンション</a:t>
                      </a:r>
                      <a:endParaRPr lang="en-US" sz="12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5E7C7C"/>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定借マンション</a:t>
                      </a:r>
                      <a:endParaRPr lang="en-US" sz="12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28090"/>
                    </a:solidFill>
                  </a:tcPr>
                </a:tc>
              </a:tr>
              <a:tr h="411480">
                <a:tc>
                  <a:txBody>
                    <a:bodyPr/>
                    <a:lstStyle/>
                    <a:p>
                      <a:pPr indent="0" marL="0">
                        <a:buNone/>
                      </a:pPr>
                      <a:r>
                        <a:rPr lang="en-US" sz="1100" dirty="0">
                          <a:solidFill>
                            <a:srgbClr val="1E3A3A"/>
                          </a:solidFill>
                          <a:latin typeface="Meiryo" pitchFamily="34" charset="0"/>
                          <a:ea typeface="Meiryo" pitchFamily="34" charset="-122"/>
                          <a:cs typeface="Meiryo" pitchFamily="34" charset="-120"/>
                        </a:rPr>
                        <a:t>購入価格（目安）</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0F8F8"/>
                    </a:solidFill>
                  </a:tcPr>
                </a:tc>
                <a:tc>
                  <a:txBody>
                    <a:bodyPr/>
                    <a:lstStyle/>
                    <a:p>
                      <a:pPr indent="0" marL="0">
                        <a:buNone/>
                      </a:pPr>
                      <a:r>
                        <a:rPr lang="en-US" sz="1100" dirty="0">
                          <a:solidFill>
                            <a:srgbClr val="1E3A3A"/>
                          </a:solidFill>
                          <a:latin typeface="Meiryo" pitchFamily="34" charset="0"/>
                          <a:ea typeface="Meiryo" pitchFamily="34" charset="-122"/>
                          <a:cs typeface="Meiryo" pitchFamily="34" charset="-120"/>
                        </a:rPr>
                        <a:t>1億円</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0F8F8"/>
                    </a:solidFill>
                  </a:tcPr>
                </a:tc>
                <a:tc>
                  <a:txBody>
                    <a:bodyPr/>
                    <a:lstStyle/>
                    <a:p>
                      <a:pPr indent="0" marL="0">
                        <a:buNone/>
                      </a:pPr>
                      <a:r>
                        <a:rPr lang="en-US" sz="1100" b="1" dirty="0">
                          <a:solidFill>
                            <a:srgbClr val="028090"/>
                          </a:solidFill>
                          <a:latin typeface="Meiryo" pitchFamily="34" charset="0"/>
                          <a:ea typeface="Meiryo" pitchFamily="34" charset="-122"/>
                          <a:cs typeface="Meiryo" pitchFamily="34" charset="-120"/>
                        </a:rPr>
                        <a:t>9,000万円（▲1,000万円）</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0F8F8"/>
                    </a:solidFill>
                  </a:tcPr>
                </a:tc>
              </a:tr>
              <a:tr h="411480">
                <a:tc>
                  <a:txBody>
                    <a:bodyPr/>
                    <a:lstStyle/>
                    <a:p>
                      <a:pPr indent="0" marL="0">
                        <a:buNone/>
                      </a:pPr>
                      <a:r>
                        <a:rPr lang="en-US" sz="1100" dirty="0">
                          <a:solidFill>
                            <a:srgbClr val="1E3A3A"/>
                          </a:solidFill>
                          <a:latin typeface="Meiryo" pitchFamily="34" charset="0"/>
                          <a:ea typeface="Meiryo" pitchFamily="34" charset="-122"/>
                          <a:cs typeface="Meiryo" pitchFamily="34" charset="-120"/>
                        </a:rPr>
                        <a:t>住宅ローン月額（35年）</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3A3A"/>
                          </a:solidFill>
                          <a:latin typeface="Meiryo" pitchFamily="34" charset="0"/>
                          <a:ea typeface="Meiryo" pitchFamily="34" charset="-122"/>
                          <a:cs typeface="Meiryo" pitchFamily="34" charset="-120"/>
                        </a:rPr>
                        <a:t>約38.6万円/月</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28090"/>
                          </a:solidFill>
                          <a:latin typeface="Meiryo" pitchFamily="34" charset="0"/>
                          <a:ea typeface="Meiryo" pitchFamily="34" charset="-122"/>
                          <a:cs typeface="Meiryo" pitchFamily="34" charset="-120"/>
                        </a:rPr>
                        <a:t>約34.7万円/月</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E3A3A"/>
                          </a:solidFill>
                          <a:latin typeface="Meiryo" pitchFamily="34" charset="0"/>
                          <a:ea typeface="Meiryo" pitchFamily="34" charset="-122"/>
                          <a:cs typeface="Meiryo" pitchFamily="34" charset="-120"/>
                        </a:rPr>
                        <a:t>月々の地代</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0F8F8"/>
                    </a:solidFill>
                  </a:tcPr>
                </a:tc>
                <a:tc>
                  <a:txBody>
                    <a:bodyPr/>
                    <a:lstStyle/>
                    <a:p>
                      <a:pPr indent="0" marL="0">
                        <a:buNone/>
                      </a:pPr>
                      <a:r>
                        <a:rPr lang="en-US" sz="1100" dirty="0">
                          <a:solidFill>
                            <a:srgbClr val="1E3A3A"/>
                          </a:solidFill>
                          <a:latin typeface="Meiryo" pitchFamily="34" charset="0"/>
                          <a:ea typeface="Meiryo" pitchFamily="34" charset="-122"/>
                          <a:cs typeface="Meiryo" pitchFamily="34" charset="-120"/>
                        </a:rPr>
                        <a:t>なし</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0F8F8"/>
                    </a:solidFill>
                  </a:tcPr>
                </a:tc>
                <a:tc>
                  <a:txBody>
                    <a:bodyPr/>
                    <a:lstStyle/>
                    <a:p>
                      <a:pPr indent="0" marL="0">
                        <a:buNone/>
                      </a:pPr>
                      <a:r>
                        <a:rPr lang="en-US" sz="1100" b="1" dirty="0">
                          <a:solidFill>
                            <a:srgbClr val="028090"/>
                          </a:solidFill>
                          <a:latin typeface="Meiryo" pitchFamily="34" charset="0"/>
                          <a:ea typeface="Meiryo" pitchFamily="34" charset="-122"/>
                          <a:cs typeface="Meiryo" pitchFamily="34" charset="-120"/>
                        </a:rPr>
                        <a:t>約1〜3万円/月</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0F8F8"/>
                    </a:solidFill>
                  </a:tcPr>
                </a:tc>
              </a:tr>
              <a:tr h="411480">
                <a:tc>
                  <a:txBody>
                    <a:bodyPr/>
                    <a:lstStyle/>
                    <a:p>
                      <a:pPr indent="0" marL="0">
                        <a:buNone/>
                      </a:pPr>
                      <a:r>
                        <a:rPr lang="en-US" sz="1100" dirty="0">
                          <a:solidFill>
                            <a:srgbClr val="1E3A3A"/>
                          </a:solidFill>
                          <a:latin typeface="Meiryo" pitchFamily="34" charset="0"/>
                          <a:ea typeface="Meiryo" pitchFamily="34" charset="-122"/>
                          <a:cs typeface="Meiryo" pitchFamily="34" charset="-120"/>
                        </a:rPr>
                        <a:t>解体準備積立金</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3A3A"/>
                          </a:solidFill>
                          <a:latin typeface="Meiryo" pitchFamily="34" charset="0"/>
                          <a:ea typeface="Meiryo" pitchFamily="34" charset="-122"/>
                          <a:cs typeface="Meiryo" pitchFamily="34" charset="-120"/>
                        </a:rPr>
                        <a:t>なし（解体費は別途）</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28090"/>
                          </a:solidFill>
                          <a:latin typeface="Meiryo" pitchFamily="34" charset="0"/>
                          <a:ea typeface="Meiryo" pitchFamily="34" charset="-122"/>
                          <a:cs typeface="Meiryo" pitchFamily="34" charset="-120"/>
                        </a:rPr>
                        <a:t>数千円/月（積立て）</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E3A3A"/>
                          </a:solidFill>
                          <a:latin typeface="Meiryo" pitchFamily="34" charset="0"/>
                          <a:ea typeface="Meiryo" pitchFamily="34" charset="-122"/>
                          <a:cs typeface="Meiryo" pitchFamily="34" charset="-120"/>
                        </a:rPr>
                        <a:t>土地の固都税</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0F8F8"/>
                    </a:solidFill>
                  </a:tcPr>
                </a:tc>
                <a:tc>
                  <a:txBody>
                    <a:bodyPr/>
                    <a:lstStyle/>
                    <a:p>
                      <a:pPr indent="0" marL="0">
                        <a:buNone/>
                      </a:pPr>
                      <a:r>
                        <a:rPr lang="en-US" sz="1100" dirty="0">
                          <a:solidFill>
                            <a:srgbClr val="1E3A3A"/>
                          </a:solidFill>
                          <a:latin typeface="Meiryo" pitchFamily="34" charset="0"/>
                          <a:ea typeface="Meiryo" pitchFamily="34" charset="-122"/>
                          <a:cs typeface="Meiryo" pitchFamily="34" charset="-120"/>
                        </a:rPr>
                        <a:t>あり（年数万円）</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0F8F8"/>
                    </a:solidFill>
                  </a:tcPr>
                </a:tc>
                <a:tc>
                  <a:txBody>
                    <a:bodyPr/>
                    <a:lstStyle/>
                    <a:p>
                      <a:pPr indent="0" marL="0">
                        <a:buNone/>
                      </a:pPr>
                      <a:r>
                        <a:rPr lang="en-US" sz="1100" b="1" dirty="0">
                          <a:solidFill>
                            <a:srgbClr val="028090"/>
                          </a:solidFill>
                          <a:latin typeface="Meiryo" pitchFamily="34" charset="0"/>
                          <a:ea typeface="Meiryo" pitchFamily="34" charset="-122"/>
                          <a:cs typeface="Meiryo" pitchFamily="34" charset="-120"/>
                        </a:rPr>
                        <a:t>なし（地主負担） ✅</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0F8F8"/>
                    </a:solidFill>
                  </a:tcPr>
                </a:tc>
              </a:tr>
              <a:tr h="411480">
                <a:tc>
                  <a:txBody>
                    <a:bodyPr/>
                    <a:lstStyle/>
                    <a:p>
                      <a:pPr indent="0" marL="0">
                        <a:buNone/>
                      </a:pPr>
                      <a:r>
                        <a:rPr lang="en-US" sz="1100" dirty="0">
                          <a:solidFill>
                            <a:srgbClr val="1E3A3A"/>
                          </a:solidFill>
                          <a:latin typeface="Meiryo" pitchFamily="34" charset="0"/>
                          <a:ea typeface="Meiryo" pitchFamily="34" charset="-122"/>
                          <a:cs typeface="Meiryo" pitchFamily="34" charset="-120"/>
                        </a:rPr>
                        <a:t>総支払い（概算・35年）</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1E3A3A"/>
                          </a:solidFill>
                          <a:latin typeface="Meiryo" pitchFamily="34" charset="0"/>
                          <a:ea typeface="Meiryo" pitchFamily="34" charset="-122"/>
                          <a:cs typeface="Meiryo" pitchFamily="34" charset="-120"/>
                        </a:rPr>
                        <a:t>ローン＋固都税分が積算</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28090"/>
                          </a:solidFill>
                          <a:latin typeface="Meiryo" pitchFamily="34" charset="0"/>
                          <a:ea typeface="Meiryo" pitchFamily="34" charset="-122"/>
                          <a:cs typeface="Meiryo" pitchFamily="34" charset="-120"/>
                        </a:rPr>
                        <a:t>ローン減＋地代等で概ね同水準</a:t>
                      </a:r>
                      <a:endParaRPr lang="en-US" sz="1100" dirty="0">
                        <a:latin typeface="Meiryo" charset="0"/>
                        <a:ea typeface="Meiryo" charset="0"/>
                        <a:cs typeface="Meiryo"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Shape 5"/>
          <p:cNvSpPr/>
          <p:nvPr/>
        </p:nvSpPr>
        <p:spPr>
          <a:xfrm>
            <a:off x="365760" y="4526280"/>
            <a:ext cx="8412480" cy="384048"/>
          </a:xfrm>
          <a:prstGeom prst="rect">
            <a:avLst/>
          </a:prstGeom>
          <a:solidFill>
            <a:srgbClr val="028090">
              <a:alpha val="15000"/>
            </a:srgbClr>
          </a:solidFill>
          <a:ln w="12700">
            <a:solidFill>
              <a:srgbClr val="028090">
                <a:alpha val="40000"/>
              </a:srgbClr>
            </a:solidFill>
            <a:prstDash val="solid"/>
          </a:ln>
        </p:spPr>
      </p:sp>
      <p:sp>
        <p:nvSpPr>
          <p:cNvPr id="9" name="Text 6"/>
          <p:cNvSpPr/>
          <p:nvPr/>
        </p:nvSpPr>
        <p:spPr>
          <a:xfrm>
            <a:off x="502920" y="4562856"/>
            <a:ext cx="8229600" cy="292608"/>
          </a:xfrm>
          <a:prstGeom prst="rect">
            <a:avLst/>
          </a:prstGeom>
          <a:noFill/>
          <a:ln/>
        </p:spPr>
        <p:txBody>
          <a:bodyPr wrap="square" rtlCol="0" anchor="ctr"/>
          <a:lstStyle/>
          <a:p>
            <a:pPr indent="0" marL="0">
              <a:buNone/>
            </a:pPr>
            <a:r>
              <a:rPr lang="en-US" sz="1100" dirty="0">
                <a:solidFill>
                  <a:srgbClr val="0D3B45"/>
                </a:solidFill>
                <a:latin typeface="Meiryo" pitchFamily="34" charset="0"/>
                <a:ea typeface="Meiryo" pitchFamily="34" charset="-122"/>
                <a:cs typeface="Meiryo" pitchFamily="34" charset="-120"/>
              </a:rPr>
              <a:t>💡 ポイント：定借は取得価格が抑えられる分、地代等のランニングコストが加わる。物件ごとの試算で総支払いを比較しよう。</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3B45"/>
          </a:solidFill>
          <a:ln w="12700">
            <a:solidFill>
              <a:srgbClr val="0D3B45"/>
            </a:solidFill>
            <a:prstDash val="solid"/>
          </a:ln>
        </p:spPr>
      </p:sp>
      <p:sp>
        <p:nvSpPr>
          <p:cNvPr id="3" name="Shape 1"/>
          <p:cNvSpPr/>
          <p:nvPr/>
        </p:nvSpPr>
        <p:spPr>
          <a:xfrm>
            <a:off x="0" y="0"/>
            <a:ext cx="137160" cy="914400"/>
          </a:xfrm>
          <a:prstGeom prst="rect">
            <a:avLst/>
          </a:prstGeom>
          <a:solidFill>
            <a:srgbClr val="00A896"/>
          </a:solidFill>
          <a:ln w="12700">
            <a:solidFill>
              <a:srgbClr val="00A896"/>
            </a:solidFill>
            <a:prstDash val="solid"/>
          </a:ln>
        </p:spPr>
      </p:sp>
      <p:sp>
        <p:nvSpPr>
          <p:cNvPr id="4" name="Text 2"/>
          <p:cNvSpPr/>
          <p:nvPr/>
        </p:nvSpPr>
        <p:spPr>
          <a:xfrm>
            <a:off x="365760" y="91440"/>
            <a:ext cx="8229600" cy="6858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05  税金・住宅ローン</a:t>
            </a:r>
            <a:endParaRPr lang="en-US" sz="2200" dirty="0"/>
          </a:p>
        </p:txBody>
      </p:sp>
      <p:sp>
        <p:nvSpPr>
          <p:cNvPr id="5" name="Shape 3"/>
          <p:cNvSpPr/>
          <p:nvPr/>
        </p:nvSpPr>
        <p:spPr>
          <a:xfrm>
            <a:off x="365760" y="1051560"/>
            <a:ext cx="2651760" cy="1737360"/>
          </a:xfrm>
          <a:prstGeom prst="rect">
            <a:avLst/>
          </a:prstGeom>
          <a:solidFill>
            <a:srgbClr val="FFFFFF"/>
          </a:solidFill>
          <a:ln w="12700">
            <a:solidFill>
              <a:srgbClr val="C8DDD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65760" y="1051560"/>
            <a:ext cx="2651760" cy="475488"/>
          </a:xfrm>
          <a:prstGeom prst="rect">
            <a:avLst/>
          </a:prstGeom>
          <a:solidFill>
            <a:srgbClr val="028090">
              <a:alpha val="85000"/>
            </a:srgbClr>
          </a:solidFill>
          <a:ln w="12700">
            <a:solidFill>
              <a:srgbClr val="028090">
                <a:alpha val="80000"/>
              </a:srgbClr>
            </a:solidFill>
            <a:prstDash val="solid"/>
          </a:ln>
        </p:spPr>
      </p:sp>
      <p:sp>
        <p:nvSpPr>
          <p:cNvPr id="7" name="Text 5"/>
          <p:cNvSpPr/>
          <p:nvPr/>
        </p:nvSpPr>
        <p:spPr>
          <a:xfrm>
            <a:off x="457200" y="1106424"/>
            <a:ext cx="2468880" cy="365760"/>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 節税</a:t>
            </a:r>
            <a:endParaRPr lang="en-US" sz="1100" dirty="0"/>
          </a:p>
        </p:txBody>
      </p:sp>
      <p:sp>
        <p:nvSpPr>
          <p:cNvPr id="8" name="Text 6"/>
          <p:cNvSpPr/>
          <p:nvPr/>
        </p:nvSpPr>
        <p:spPr>
          <a:xfrm>
            <a:off x="457200" y="1581912"/>
            <a:ext cx="2468880" cy="457200"/>
          </a:xfrm>
          <a:prstGeom prst="rect">
            <a:avLst/>
          </a:prstGeom>
          <a:noFill/>
          <a:ln/>
        </p:spPr>
        <p:txBody>
          <a:bodyPr wrap="square" rtlCol="0" anchor="ctr"/>
          <a:lstStyle/>
          <a:p>
            <a:pPr indent="0" marL="0">
              <a:buNone/>
            </a:pPr>
            <a:r>
              <a:rPr lang="en-US" sz="1300" b="1" dirty="0">
                <a:solidFill>
                  <a:srgbClr val="0D3B45"/>
                </a:solidFill>
                <a:latin typeface="Meiryo" pitchFamily="34" charset="0"/>
                <a:ea typeface="Meiryo" pitchFamily="34" charset="-122"/>
                <a:cs typeface="Meiryo" pitchFamily="34" charset="-120"/>
              </a:rPr>
              <a:t>固定資産税・</a:t>
            </a:r>
            <a:endParaRPr lang="en-US" sz="1300" dirty="0"/>
          </a:p>
          <a:p>
            <a:pPr indent="0" marL="0">
              <a:buNone/>
            </a:pPr>
            <a:r>
              <a:rPr lang="en-US" sz="1300" b="1" dirty="0">
                <a:solidFill>
                  <a:srgbClr val="0D3B45"/>
                </a:solidFill>
                <a:latin typeface="Meiryo" pitchFamily="34" charset="0"/>
                <a:ea typeface="Meiryo" pitchFamily="34" charset="-122"/>
                <a:cs typeface="Meiryo" pitchFamily="34" charset="-120"/>
              </a:rPr>
              <a:t>都市計画税</a:t>
            </a:r>
            <a:endParaRPr lang="en-US" sz="1300" dirty="0"/>
          </a:p>
        </p:txBody>
      </p:sp>
      <p:sp>
        <p:nvSpPr>
          <p:cNvPr id="9" name="Text 7"/>
          <p:cNvSpPr/>
          <p:nvPr/>
        </p:nvSpPr>
        <p:spPr>
          <a:xfrm>
            <a:off x="457200" y="2011680"/>
            <a:ext cx="2468880" cy="713232"/>
          </a:xfrm>
          <a:prstGeom prst="rect">
            <a:avLst/>
          </a:prstGeom>
          <a:noFill/>
          <a:ln/>
        </p:spPr>
        <p:txBody>
          <a:bodyPr wrap="square" rtlCol="0" anchor="ctr"/>
          <a:lstStyle/>
          <a:p>
            <a:pPr indent="0" marL="0">
              <a:buNone/>
            </a:pPr>
            <a:r>
              <a:rPr lang="en-US" sz="1000" dirty="0">
                <a:solidFill>
                  <a:srgbClr val="5E7C7C"/>
                </a:solidFill>
                <a:latin typeface="Meiryo" pitchFamily="34" charset="0"/>
                <a:ea typeface="Meiryo" pitchFamily="34" charset="-122"/>
                <a:cs typeface="Meiryo" pitchFamily="34" charset="-120"/>
              </a:rPr>
              <a:t>建物部分のみに課税。土地は地主が負担します。毎年の負担が軽くなる大きなメリット。</a:t>
            </a:r>
            <a:endParaRPr lang="en-US" sz="1000" dirty="0"/>
          </a:p>
        </p:txBody>
      </p:sp>
      <p:sp>
        <p:nvSpPr>
          <p:cNvPr id="10" name="Shape 8"/>
          <p:cNvSpPr/>
          <p:nvPr/>
        </p:nvSpPr>
        <p:spPr>
          <a:xfrm>
            <a:off x="3200400" y="1051560"/>
            <a:ext cx="2651760" cy="1737360"/>
          </a:xfrm>
          <a:prstGeom prst="rect">
            <a:avLst/>
          </a:prstGeom>
          <a:solidFill>
            <a:srgbClr val="FFFFFF"/>
          </a:solidFill>
          <a:ln w="12700">
            <a:solidFill>
              <a:srgbClr val="C8DDD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3200400" y="1051560"/>
            <a:ext cx="2651760" cy="475488"/>
          </a:xfrm>
          <a:prstGeom prst="rect">
            <a:avLst/>
          </a:prstGeom>
          <a:solidFill>
            <a:srgbClr val="028090">
              <a:alpha val="85000"/>
            </a:srgbClr>
          </a:solidFill>
          <a:ln w="12700">
            <a:solidFill>
              <a:srgbClr val="028090">
                <a:alpha val="80000"/>
              </a:srgbClr>
            </a:solidFill>
            <a:prstDash val="solid"/>
          </a:ln>
        </p:spPr>
      </p:sp>
      <p:sp>
        <p:nvSpPr>
          <p:cNvPr id="12" name="Text 10"/>
          <p:cNvSpPr/>
          <p:nvPr/>
        </p:nvSpPr>
        <p:spPr>
          <a:xfrm>
            <a:off x="3291840" y="1106424"/>
            <a:ext cx="2468880" cy="365760"/>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 軽減</a:t>
            </a:r>
            <a:endParaRPr lang="en-US" sz="1100" dirty="0"/>
          </a:p>
        </p:txBody>
      </p:sp>
      <p:sp>
        <p:nvSpPr>
          <p:cNvPr id="13" name="Text 11"/>
          <p:cNvSpPr/>
          <p:nvPr/>
        </p:nvSpPr>
        <p:spPr>
          <a:xfrm>
            <a:off x="3291840" y="1581912"/>
            <a:ext cx="2468880" cy="457200"/>
          </a:xfrm>
          <a:prstGeom prst="rect">
            <a:avLst/>
          </a:prstGeom>
          <a:noFill/>
          <a:ln/>
        </p:spPr>
        <p:txBody>
          <a:bodyPr wrap="square" rtlCol="0" anchor="ctr"/>
          <a:lstStyle/>
          <a:p>
            <a:pPr indent="0" marL="0">
              <a:buNone/>
            </a:pPr>
            <a:r>
              <a:rPr lang="en-US" sz="1300" b="1" dirty="0">
                <a:solidFill>
                  <a:srgbClr val="0D3B45"/>
                </a:solidFill>
                <a:latin typeface="Meiryo" pitchFamily="34" charset="0"/>
                <a:ea typeface="Meiryo" pitchFamily="34" charset="-122"/>
                <a:cs typeface="Meiryo" pitchFamily="34" charset="-120"/>
              </a:rPr>
              <a:t>不動産取得税</a:t>
            </a:r>
            <a:endParaRPr lang="en-US" sz="1300" dirty="0"/>
          </a:p>
        </p:txBody>
      </p:sp>
      <p:sp>
        <p:nvSpPr>
          <p:cNvPr id="14" name="Text 12"/>
          <p:cNvSpPr/>
          <p:nvPr/>
        </p:nvSpPr>
        <p:spPr>
          <a:xfrm>
            <a:off x="3291840" y="2011680"/>
            <a:ext cx="2468880" cy="713232"/>
          </a:xfrm>
          <a:prstGeom prst="rect">
            <a:avLst/>
          </a:prstGeom>
          <a:noFill/>
          <a:ln/>
        </p:spPr>
        <p:txBody>
          <a:bodyPr wrap="square" rtlCol="0" anchor="ctr"/>
          <a:lstStyle/>
          <a:p>
            <a:pPr indent="0" marL="0">
              <a:buNone/>
            </a:pPr>
            <a:r>
              <a:rPr lang="en-US" sz="1000" dirty="0">
                <a:solidFill>
                  <a:srgbClr val="5E7C7C"/>
                </a:solidFill>
                <a:latin typeface="Meiryo" pitchFamily="34" charset="0"/>
                <a:ea typeface="Meiryo" pitchFamily="34" charset="-122"/>
                <a:cs typeface="Meiryo" pitchFamily="34" charset="-120"/>
              </a:rPr>
              <a:t>購入時に一度だけかかる税金。定借マンションは建物部分のみ課税（土地分の不動産取得税なし）。</a:t>
            </a:r>
            <a:endParaRPr lang="en-US" sz="1000" dirty="0"/>
          </a:p>
        </p:txBody>
      </p:sp>
      <p:sp>
        <p:nvSpPr>
          <p:cNvPr id="15" name="Shape 13"/>
          <p:cNvSpPr/>
          <p:nvPr/>
        </p:nvSpPr>
        <p:spPr>
          <a:xfrm>
            <a:off x="6035040" y="1051560"/>
            <a:ext cx="2651760" cy="1737360"/>
          </a:xfrm>
          <a:prstGeom prst="rect">
            <a:avLst/>
          </a:prstGeom>
          <a:solidFill>
            <a:srgbClr val="FFFFFF"/>
          </a:solidFill>
          <a:ln w="12700">
            <a:solidFill>
              <a:srgbClr val="C8DDD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6035040" y="1051560"/>
            <a:ext cx="2651760" cy="475488"/>
          </a:xfrm>
          <a:prstGeom prst="rect">
            <a:avLst/>
          </a:prstGeom>
          <a:solidFill>
            <a:srgbClr val="028090">
              <a:alpha val="85000"/>
            </a:srgbClr>
          </a:solidFill>
          <a:ln w="12700">
            <a:solidFill>
              <a:srgbClr val="028090">
                <a:alpha val="80000"/>
              </a:srgbClr>
            </a:solidFill>
            <a:prstDash val="solid"/>
          </a:ln>
        </p:spPr>
      </p:sp>
      <p:sp>
        <p:nvSpPr>
          <p:cNvPr id="17" name="Text 15"/>
          <p:cNvSpPr/>
          <p:nvPr/>
        </p:nvSpPr>
        <p:spPr>
          <a:xfrm>
            <a:off x="6126480" y="1106424"/>
            <a:ext cx="2468880" cy="365760"/>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 軽減</a:t>
            </a:r>
            <a:endParaRPr lang="en-US" sz="1100" dirty="0"/>
          </a:p>
        </p:txBody>
      </p:sp>
      <p:sp>
        <p:nvSpPr>
          <p:cNvPr id="18" name="Text 16"/>
          <p:cNvSpPr/>
          <p:nvPr/>
        </p:nvSpPr>
        <p:spPr>
          <a:xfrm>
            <a:off x="6126480" y="1581912"/>
            <a:ext cx="2468880" cy="457200"/>
          </a:xfrm>
          <a:prstGeom prst="rect">
            <a:avLst/>
          </a:prstGeom>
          <a:noFill/>
          <a:ln/>
        </p:spPr>
        <p:txBody>
          <a:bodyPr wrap="square" rtlCol="0" anchor="ctr"/>
          <a:lstStyle/>
          <a:p>
            <a:pPr indent="0" marL="0">
              <a:buNone/>
            </a:pPr>
            <a:r>
              <a:rPr lang="en-US" sz="1300" b="1" dirty="0">
                <a:solidFill>
                  <a:srgbClr val="0D3B45"/>
                </a:solidFill>
                <a:latin typeface="Meiryo" pitchFamily="34" charset="0"/>
                <a:ea typeface="Meiryo" pitchFamily="34" charset="-122"/>
                <a:cs typeface="Meiryo" pitchFamily="34" charset="-120"/>
              </a:rPr>
              <a:t>登録免許税</a:t>
            </a:r>
            <a:endParaRPr lang="en-US" sz="1300" dirty="0"/>
          </a:p>
        </p:txBody>
      </p:sp>
      <p:sp>
        <p:nvSpPr>
          <p:cNvPr id="19" name="Text 17"/>
          <p:cNvSpPr/>
          <p:nvPr/>
        </p:nvSpPr>
        <p:spPr>
          <a:xfrm>
            <a:off x="6126480" y="2011680"/>
            <a:ext cx="2468880" cy="713232"/>
          </a:xfrm>
          <a:prstGeom prst="rect">
            <a:avLst/>
          </a:prstGeom>
          <a:noFill/>
          <a:ln/>
        </p:spPr>
        <p:txBody>
          <a:bodyPr wrap="square" rtlCol="0" anchor="ctr"/>
          <a:lstStyle/>
          <a:p>
            <a:pPr indent="0" marL="0">
              <a:buNone/>
            </a:pPr>
            <a:r>
              <a:rPr lang="en-US" sz="1000" dirty="0">
                <a:solidFill>
                  <a:srgbClr val="5E7C7C"/>
                </a:solidFill>
                <a:latin typeface="Meiryo" pitchFamily="34" charset="0"/>
                <a:ea typeface="Meiryo" pitchFamily="34" charset="-122"/>
                <a:cs typeface="Meiryo" pitchFamily="34" charset="-120"/>
              </a:rPr>
              <a:t>地上権・建物に課税。一定条件で税率が1/2に軽減されるケースあり。</a:t>
            </a:r>
            <a:endParaRPr lang="en-US" sz="1000" dirty="0"/>
          </a:p>
        </p:txBody>
      </p:sp>
      <p:sp>
        <p:nvSpPr>
          <p:cNvPr id="20" name="Shape 18"/>
          <p:cNvSpPr/>
          <p:nvPr/>
        </p:nvSpPr>
        <p:spPr>
          <a:xfrm>
            <a:off x="365760" y="2926080"/>
            <a:ext cx="2651760" cy="1737360"/>
          </a:xfrm>
          <a:prstGeom prst="rect">
            <a:avLst/>
          </a:prstGeom>
          <a:solidFill>
            <a:srgbClr val="FFFFFF"/>
          </a:solidFill>
          <a:ln w="12700">
            <a:solidFill>
              <a:srgbClr val="C8DDD0"/>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365760" y="2926080"/>
            <a:ext cx="2651760" cy="475488"/>
          </a:xfrm>
          <a:prstGeom prst="rect">
            <a:avLst/>
          </a:prstGeom>
          <a:solidFill>
            <a:srgbClr val="D97706">
              <a:alpha val="85000"/>
            </a:srgbClr>
          </a:solidFill>
          <a:ln w="12700">
            <a:solidFill>
              <a:srgbClr val="D97706">
                <a:alpha val="80000"/>
              </a:srgbClr>
            </a:solidFill>
            <a:prstDash val="solid"/>
          </a:ln>
        </p:spPr>
      </p:sp>
      <p:sp>
        <p:nvSpPr>
          <p:cNvPr id="22" name="Text 20"/>
          <p:cNvSpPr/>
          <p:nvPr/>
        </p:nvSpPr>
        <p:spPr>
          <a:xfrm>
            <a:off x="457200" y="2980944"/>
            <a:ext cx="2468880" cy="365760"/>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 要確認</a:t>
            </a:r>
            <a:endParaRPr lang="en-US" sz="1100" dirty="0"/>
          </a:p>
        </p:txBody>
      </p:sp>
      <p:sp>
        <p:nvSpPr>
          <p:cNvPr id="23" name="Text 21"/>
          <p:cNvSpPr/>
          <p:nvPr/>
        </p:nvSpPr>
        <p:spPr>
          <a:xfrm>
            <a:off x="457200" y="3456432"/>
            <a:ext cx="2468880" cy="457200"/>
          </a:xfrm>
          <a:prstGeom prst="rect">
            <a:avLst/>
          </a:prstGeom>
          <a:noFill/>
          <a:ln/>
        </p:spPr>
        <p:txBody>
          <a:bodyPr wrap="square" rtlCol="0" anchor="ctr"/>
          <a:lstStyle/>
          <a:p>
            <a:pPr indent="0" marL="0">
              <a:buNone/>
            </a:pPr>
            <a:r>
              <a:rPr lang="en-US" sz="1300" b="1" dirty="0">
                <a:solidFill>
                  <a:srgbClr val="0D3B45"/>
                </a:solidFill>
                <a:latin typeface="Meiryo" pitchFamily="34" charset="0"/>
                <a:ea typeface="Meiryo" pitchFamily="34" charset="-122"/>
                <a:cs typeface="Meiryo" pitchFamily="34" charset="-120"/>
              </a:rPr>
              <a:t>住宅ローン控除</a:t>
            </a:r>
            <a:endParaRPr lang="en-US" sz="1300" dirty="0"/>
          </a:p>
        </p:txBody>
      </p:sp>
      <p:sp>
        <p:nvSpPr>
          <p:cNvPr id="24" name="Text 22"/>
          <p:cNvSpPr/>
          <p:nvPr/>
        </p:nvSpPr>
        <p:spPr>
          <a:xfrm>
            <a:off x="457200" y="3886200"/>
            <a:ext cx="2468880" cy="713232"/>
          </a:xfrm>
          <a:prstGeom prst="rect">
            <a:avLst/>
          </a:prstGeom>
          <a:noFill/>
          <a:ln/>
        </p:spPr>
        <p:txBody>
          <a:bodyPr wrap="square" rtlCol="0" anchor="ctr"/>
          <a:lstStyle/>
          <a:p>
            <a:pPr indent="0" marL="0">
              <a:buNone/>
            </a:pPr>
            <a:r>
              <a:rPr lang="en-US" sz="1000" dirty="0">
                <a:solidFill>
                  <a:srgbClr val="5E7C7C"/>
                </a:solidFill>
                <a:latin typeface="Meiryo" pitchFamily="34" charset="0"/>
                <a:ea typeface="Meiryo" pitchFamily="34" charset="-122"/>
                <a:cs typeface="Meiryo" pitchFamily="34" charset="-120"/>
              </a:rPr>
              <a:t>建物・借地権部分のローンに適用可能。ただし前払賃料相当分の借入には適用不可のケースに注意。</a:t>
            </a:r>
            <a:endParaRPr lang="en-US" sz="1000" dirty="0"/>
          </a:p>
        </p:txBody>
      </p:sp>
      <p:sp>
        <p:nvSpPr>
          <p:cNvPr id="25" name="Shape 23"/>
          <p:cNvSpPr/>
          <p:nvPr/>
        </p:nvSpPr>
        <p:spPr>
          <a:xfrm>
            <a:off x="3200400" y="2926080"/>
            <a:ext cx="2651760" cy="1737360"/>
          </a:xfrm>
          <a:prstGeom prst="rect">
            <a:avLst/>
          </a:prstGeom>
          <a:solidFill>
            <a:srgbClr val="FFFFFF"/>
          </a:solidFill>
          <a:ln w="12700">
            <a:solidFill>
              <a:srgbClr val="C8DDD0"/>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3200400" y="2926080"/>
            <a:ext cx="2651760" cy="475488"/>
          </a:xfrm>
          <a:prstGeom prst="rect">
            <a:avLst/>
          </a:prstGeom>
          <a:solidFill>
            <a:srgbClr val="028090">
              <a:alpha val="85000"/>
            </a:srgbClr>
          </a:solidFill>
          <a:ln w="12700">
            <a:solidFill>
              <a:srgbClr val="028090">
                <a:alpha val="80000"/>
              </a:srgbClr>
            </a:solidFill>
            <a:prstDash val="solid"/>
          </a:ln>
        </p:spPr>
      </p:sp>
      <p:sp>
        <p:nvSpPr>
          <p:cNvPr id="27" name="Text 25"/>
          <p:cNvSpPr/>
          <p:nvPr/>
        </p:nvSpPr>
        <p:spPr>
          <a:xfrm>
            <a:off x="3291840" y="2980944"/>
            <a:ext cx="2468880" cy="365760"/>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 利用可</a:t>
            </a:r>
            <a:endParaRPr lang="en-US" sz="1100" dirty="0"/>
          </a:p>
        </p:txBody>
      </p:sp>
      <p:sp>
        <p:nvSpPr>
          <p:cNvPr id="28" name="Text 26"/>
          <p:cNvSpPr/>
          <p:nvPr/>
        </p:nvSpPr>
        <p:spPr>
          <a:xfrm>
            <a:off x="3291840" y="3456432"/>
            <a:ext cx="2468880" cy="457200"/>
          </a:xfrm>
          <a:prstGeom prst="rect">
            <a:avLst/>
          </a:prstGeom>
          <a:noFill/>
          <a:ln/>
        </p:spPr>
        <p:txBody>
          <a:bodyPr wrap="square" rtlCol="0" anchor="ctr"/>
          <a:lstStyle/>
          <a:p>
            <a:pPr indent="0" marL="0">
              <a:buNone/>
            </a:pPr>
            <a:r>
              <a:rPr lang="en-US" sz="1300" b="1" dirty="0">
                <a:solidFill>
                  <a:srgbClr val="0D3B45"/>
                </a:solidFill>
                <a:latin typeface="Meiryo" pitchFamily="34" charset="0"/>
                <a:ea typeface="Meiryo" pitchFamily="34" charset="-122"/>
                <a:cs typeface="Meiryo" pitchFamily="34" charset="-120"/>
              </a:rPr>
              <a:t>住宅ローン</a:t>
            </a:r>
            <a:endParaRPr lang="en-US" sz="1300" dirty="0"/>
          </a:p>
          <a:p>
            <a:pPr indent="0" marL="0">
              <a:buNone/>
            </a:pPr>
            <a:r>
              <a:rPr lang="en-US" sz="1300" b="1" dirty="0">
                <a:solidFill>
                  <a:srgbClr val="0D3B45"/>
                </a:solidFill>
                <a:latin typeface="Meiryo" pitchFamily="34" charset="0"/>
                <a:ea typeface="Meiryo" pitchFamily="34" charset="-122"/>
                <a:cs typeface="Meiryo" pitchFamily="34" charset="-120"/>
              </a:rPr>
              <a:t>(フラット35)</a:t>
            </a:r>
            <a:endParaRPr lang="en-US" sz="1300" dirty="0"/>
          </a:p>
        </p:txBody>
      </p:sp>
      <p:sp>
        <p:nvSpPr>
          <p:cNvPr id="29" name="Text 27"/>
          <p:cNvSpPr/>
          <p:nvPr/>
        </p:nvSpPr>
        <p:spPr>
          <a:xfrm>
            <a:off x="3291840" y="3886200"/>
            <a:ext cx="2468880" cy="713232"/>
          </a:xfrm>
          <a:prstGeom prst="rect">
            <a:avLst/>
          </a:prstGeom>
          <a:noFill/>
          <a:ln/>
        </p:spPr>
        <p:txBody>
          <a:bodyPr wrap="square" rtlCol="0" anchor="ctr"/>
          <a:lstStyle/>
          <a:p>
            <a:pPr indent="0" marL="0">
              <a:buNone/>
            </a:pPr>
            <a:r>
              <a:rPr lang="en-US" sz="1000" dirty="0">
                <a:solidFill>
                  <a:srgbClr val="5E7C7C"/>
                </a:solidFill>
                <a:latin typeface="Meiryo" pitchFamily="34" charset="0"/>
                <a:ea typeface="Meiryo" pitchFamily="34" charset="-122"/>
                <a:cs typeface="Meiryo" pitchFamily="34" charset="-120"/>
              </a:rPr>
              <a:t>利用可能です。借地期間が返済期間をカバーすることが条件。金融機関への事前相談が重要。</a:t>
            </a:r>
            <a:endParaRPr lang="en-US" sz="1000" dirty="0"/>
          </a:p>
        </p:txBody>
      </p:sp>
      <p:sp>
        <p:nvSpPr>
          <p:cNvPr id="30" name="Shape 28"/>
          <p:cNvSpPr/>
          <p:nvPr/>
        </p:nvSpPr>
        <p:spPr>
          <a:xfrm>
            <a:off x="6035040" y="2926080"/>
            <a:ext cx="2651760" cy="1737360"/>
          </a:xfrm>
          <a:prstGeom prst="rect">
            <a:avLst/>
          </a:prstGeom>
          <a:solidFill>
            <a:srgbClr val="FFFFFF"/>
          </a:solidFill>
          <a:ln w="12700">
            <a:solidFill>
              <a:srgbClr val="C8DDD0"/>
            </a:solidFill>
            <a:prstDash val="solid"/>
          </a:ln>
          <a:effectLst>
            <a:outerShdw sx="100000" sy="100000" kx="0" ky="0" algn="bl" rotWithShape="0" blurRad="101600" dist="38100" dir="8100000">
              <a:srgbClr val="000000">
                <a:alpha val="10000"/>
              </a:srgbClr>
            </a:outerShdw>
          </a:effectLst>
        </p:spPr>
      </p:sp>
      <p:sp>
        <p:nvSpPr>
          <p:cNvPr id="31" name="Shape 29"/>
          <p:cNvSpPr/>
          <p:nvPr/>
        </p:nvSpPr>
        <p:spPr>
          <a:xfrm>
            <a:off x="6035040" y="2926080"/>
            <a:ext cx="2651760" cy="475488"/>
          </a:xfrm>
          <a:prstGeom prst="rect">
            <a:avLst/>
          </a:prstGeom>
          <a:solidFill>
            <a:srgbClr val="5E7C7C">
              <a:alpha val="85000"/>
            </a:srgbClr>
          </a:solidFill>
          <a:ln w="12700">
            <a:solidFill>
              <a:srgbClr val="5E7C7C">
                <a:alpha val="80000"/>
              </a:srgbClr>
            </a:solidFill>
            <a:prstDash val="solid"/>
          </a:ln>
        </p:spPr>
      </p:sp>
      <p:sp>
        <p:nvSpPr>
          <p:cNvPr id="32" name="Text 30"/>
          <p:cNvSpPr/>
          <p:nvPr/>
        </p:nvSpPr>
        <p:spPr>
          <a:xfrm>
            <a:off x="6126480" y="2980944"/>
            <a:ext cx="2468880" cy="365760"/>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 税理士へ</a:t>
            </a:r>
            <a:endParaRPr lang="en-US" sz="1100" dirty="0"/>
          </a:p>
        </p:txBody>
      </p:sp>
      <p:sp>
        <p:nvSpPr>
          <p:cNvPr id="33" name="Text 31"/>
          <p:cNvSpPr/>
          <p:nvPr/>
        </p:nvSpPr>
        <p:spPr>
          <a:xfrm>
            <a:off x="6126480" y="3456432"/>
            <a:ext cx="2468880" cy="457200"/>
          </a:xfrm>
          <a:prstGeom prst="rect">
            <a:avLst/>
          </a:prstGeom>
          <a:noFill/>
          <a:ln/>
        </p:spPr>
        <p:txBody>
          <a:bodyPr wrap="square" rtlCol="0" anchor="ctr"/>
          <a:lstStyle/>
          <a:p>
            <a:pPr indent="0" marL="0">
              <a:buNone/>
            </a:pPr>
            <a:r>
              <a:rPr lang="en-US" sz="1300" b="1" dirty="0">
                <a:solidFill>
                  <a:srgbClr val="0D3B45"/>
                </a:solidFill>
                <a:latin typeface="Meiryo" pitchFamily="34" charset="0"/>
                <a:ea typeface="Meiryo" pitchFamily="34" charset="-122"/>
                <a:cs typeface="Meiryo" pitchFamily="34" charset="-120"/>
              </a:rPr>
              <a:t>相続税評価</a:t>
            </a:r>
            <a:endParaRPr lang="en-US" sz="1300" dirty="0"/>
          </a:p>
        </p:txBody>
      </p:sp>
      <p:sp>
        <p:nvSpPr>
          <p:cNvPr id="34" name="Text 32"/>
          <p:cNvSpPr/>
          <p:nvPr/>
        </p:nvSpPr>
        <p:spPr>
          <a:xfrm>
            <a:off x="6126480" y="3886200"/>
            <a:ext cx="2468880" cy="713232"/>
          </a:xfrm>
          <a:prstGeom prst="rect">
            <a:avLst/>
          </a:prstGeom>
          <a:noFill/>
          <a:ln/>
        </p:spPr>
        <p:txBody>
          <a:bodyPr wrap="square" rtlCol="0" anchor="ctr"/>
          <a:lstStyle/>
          <a:p>
            <a:pPr indent="0" marL="0">
              <a:buNone/>
            </a:pPr>
            <a:r>
              <a:rPr lang="en-US" sz="1000" dirty="0">
                <a:solidFill>
                  <a:srgbClr val="5E7C7C"/>
                </a:solidFill>
                <a:latin typeface="Meiryo" pitchFamily="34" charset="0"/>
                <a:ea typeface="Meiryo" pitchFamily="34" charset="-122"/>
                <a:cs typeface="Meiryo" pitchFamily="34" charset="-120"/>
              </a:rPr>
              <a:t>建物は固定資産税評価額、借地権は残存年数を反映した評価係数で算出。詳細は税理士に確認を。</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3B45"/>
          </a:solidFill>
          <a:ln w="12700">
            <a:solidFill>
              <a:srgbClr val="0D3B45"/>
            </a:solidFill>
            <a:prstDash val="solid"/>
          </a:ln>
        </p:spPr>
      </p:sp>
      <p:sp>
        <p:nvSpPr>
          <p:cNvPr id="3" name="Shape 1"/>
          <p:cNvSpPr/>
          <p:nvPr/>
        </p:nvSpPr>
        <p:spPr>
          <a:xfrm>
            <a:off x="0" y="0"/>
            <a:ext cx="137160" cy="914400"/>
          </a:xfrm>
          <a:prstGeom prst="rect">
            <a:avLst/>
          </a:prstGeom>
          <a:solidFill>
            <a:srgbClr val="00A896"/>
          </a:solidFill>
          <a:ln w="12700">
            <a:solidFill>
              <a:srgbClr val="00A896"/>
            </a:solidFill>
            <a:prstDash val="solid"/>
          </a:ln>
        </p:spPr>
      </p:sp>
      <p:sp>
        <p:nvSpPr>
          <p:cNvPr id="4" name="Text 2"/>
          <p:cNvSpPr/>
          <p:nvPr/>
        </p:nvSpPr>
        <p:spPr>
          <a:xfrm>
            <a:off x="365760" y="91440"/>
            <a:ext cx="8229600" cy="6858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06  売却・賃貸・相続はできる？</a:t>
            </a:r>
            <a:endParaRPr lang="en-US" sz="2200" dirty="0"/>
          </a:p>
        </p:txBody>
      </p:sp>
      <p:sp>
        <p:nvSpPr>
          <p:cNvPr id="5" name="Shape 3"/>
          <p:cNvSpPr/>
          <p:nvPr/>
        </p:nvSpPr>
        <p:spPr>
          <a:xfrm>
            <a:off x="365760" y="1051560"/>
            <a:ext cx="8412480" cy="1188720"/>
          </a:xfrm>
          <a:prstGeom prst="rect">
            <a:avLst/>
          </a:prstGeom>
          <a:solidFill>
            <a:srgbClr val="FFFFFF"/>
          </a:solidFill>
          <a:ln w="12700">
            <a:solidFill>
              <a:srgbClr val="B8D8DA"/>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65760" y="1051560"/>
            <a:ext cx="1188720" cy="1188720"/>
          </a:xfrm>
          <a:prstGeom prst="rect">
            <a:avLst/>
          </a:prstGeom>
          <a:solidFill>
            <a:srgbClr val="028090">
              <a:alpha val="12000"/>
            </a:srgbClr>
          </a:solidFill>
          <a:ln w="12700">
            <a:solidFill>
              <a:srgbClr val="028090">
                <a:alpha val="30000"/>
              </a:srgbClr>
            </a:solidFill>
            <a:prstDash val="solid"/>
          </a:ln>
        </p:spPr>
      </p:sp>
      <p:sp>
        <p:nvSpPr>
          <p:cNvPr id="7" name="Text 5"/>
          <p:cNvSpPr/>
          <p:nvPr/>
        </p:nvSpPr>
        <p:spPr>
          <a:xfrm>
            <a:off x="365760" y="1325880"/>
            <a:ext cx="1188720" cy="548640"/>
          </a:xfrm>
          <a:prstGeom prst="rect">
            <a:avLst/>
          </a:prstGeom>
          <a:noFill/>
          <a:ln/>
        </p:spPr>
        <p:txBody>
          <a:bodyPr wrap="square" rtlCol="0" anchor="ctr"/>
          <a:lstStyle/>
          <a:p>
            <a:pPr algn="ctr" indent="0" marL="0">
              <a:buNone/>
            </a:pPr>
            <a:r>
              <a:rPr lang="en-US" sz="1600" dirty="0">
                <a:solidFill>
                  <a:srgbClr val="000000"/>
                </a:solidFill>
                <a:latin typeface="Meiryo" pitchFamily="34" charset="0"/>
                <a:ea typeface="Meiryo" pitchFamily="34" charset="-122"/>
                <a:cs typeface="Meiryo" pitchFamily="34" charset="-120"/>
              </a:rPr>
              <a:t>🏠→💰</a:t>
            </a:r>
            <a:endParaRPr lang="en-US" sz="1600" dirty="0"/>
          </a:p>
        </p:txBody>
      </p:sp>
      <p:sp>
        <p:nvSpPr>
          <p:cNvPr id="8" name="Text 6"/>
          <p:cNvSpPr/>
          <p:nvPr/>
        </p:nvSpPr>
        <p:spPr>
          <a:xfrm>
            <a:off x="1691640" y="1124712"/>
            <a:ext cx="6949440" cy="320040"/>
          </a:xfrm>
          <a:prstGeom prst="rect">
            <a:avLst/>
          </a:prstGeom>
          <a:noFill/>
          <a:ln/>
        </p:spPr>
        <p:txBody>
          <a:bodyPr wrap="square" rtlCol="0" anchor="ctr"/>
          <a:lstStyle/>
          <a:p>
            <a:pPr indent="0" marL="0">
              <a:buNone/>
            </a:pPr>
            <a:r>
              <a:rPr lang="en-US" sz="1400" b="1" dirty="0">
                <a:solidFill>
                  <a:srgbClr val="028090"/>
                </a:solidFill>
                <a:latin typeface="Meiryo" pitchFamily="34" charset="0"/>
                <a:ea typeface="Meiryo" pitchFamily="34" charset="-122"/>
                <a:cs typeface="Meiryo" pitchFamily="34" charset="-120"/>
              </a:rPr>
              <a:t>✅ 売却可能  売却（中古として売れる？）</a:t>
            </a:r>
            <a:endParaRPr lang="en-US" sz="1400" dirty="0"/>
          </a:p>
        </p:txBody>
      </p:sp>
      <p:sp>
        <p:nvSpPr>
          <p:cNvPr id="9" name="Text 7"/>
          <p:cNvSpPr/>
          <p:nvPr/>
        </p:nvSpPr>
        <p:spPr>
          <a:xfrm>
            <a:off x="1691640" y="1444752"/>
            <a:ext cx="6949440" cy="548640"/>
          </a:xfrm>
          <a:prstGeom prst="rect">
            <a:avLst/>
          </a:prstGeom>
          <a:noFill/>
          <a:ln/>
        </p:spPr>
        <p:txBody>
          <a:bodyPr wrap="square" rtlCol="0" anchor="ctr"/>
          <a:lstStyle/>
          <a:p>
            <a:pPr indent="0" marL="0">
              <a:buNone/>
            </a:pPr>
            <a:r>
              <a:rPr lang="en-US" sz="1050" dirty="0">
                <a:solidFill>
                  <a:srgbClr val="5E7C7C"/>
                </a:solidFill>
                <a:latin typeface="Meiryo" pitchFamily="34" charset="0"/>
                <a:ea typeface="Meiryo" pitchFamily="34" charset="-122"/>
                <a:cs typeface="Meiryo" pitchFamily="34" charset="-120"/>
              </a:rPr>
              <a:t>定借マンションは中古市場で売買できます。地上権なら地主の承諾なしで売却可能。賃借権は地主への通知・承諾が必要ですが、手続きを経れば売却できます。残存年数が長いほど流通性は高く、買主も住宅ローンを利用できます。</a:t>
            </a:r>
            <a:endParaRPr lang="en-US" sz="1050" dirty="0"/>
          </a:p>
        </p:txBody>
      </p:sp>
      <p:sp>
        <p:nvSpPr>
          <p:cNvPr id="10" name="Text 8"/>
          <p:cNvSpPr/>
          <p:nvPr/>
        </p:nvSpPr>
        <p:spPr>
          <a:xfrm>
            <a:off x="1691640" y="2002536"/>
            <a:ext cx="6949440" cy="182880"/>
          </a:xfrm>
          <a:prstGeom prst="rect">
            <a:avLst/>
          </a:prstGeom>
          <a:noFill/>
          <a:ln/>
        </p:spPr>
        <p:txBody>
          <a:bodyPr wrap="square" rtlCol="0" anchor="ctr"/>
          <a:lstStyle/>
          <a:p>
            <a:pPr indent="0" marL="0">
              <a:buNone/>
            </a:pPr>
            <a:r>
              <a:rPr lang="en-US" sz="950" dirty="0">
                <a:solidFill>
                  <a:srgbClr val="028090"/>
                </a:solidFill>
                <a:latin typeface="Meiryo" pitchFamily="34" charset="0"/>
                <a:ea typeface="Meiryo" pitchFamily="34" charset="-122"/>
                <a:cs typeface="Meiryo" pitchFamily="34" charset="-120"/>
              </a:rPr>
              <a:t>📌 ポイント：残存年数と新築時比の坪単価は定借ナビで確認できます</a:t>
            </a:r>
            <a:endParaRPr lang="en-US" sz="950" dirty="0"/>
          </a:p>
        </p:txBody>
      </p:sp>
      <p:sp>
        <p:nvSpPr>
          <p:cNvPr id="11" name="Shape 9"/>
          <p:cNvSpPr/>
          <p:nvPr/>
        </p:nvSpPr>
        <p:spPr>
          <a:xfrm>
            <a:off x="365760" y="2377440"/>
            <a:ext cx="8412480" cy="1188720"/>
          </a:xfrm>
          <a:prstGeom prst="rect">
            <a:avLst/>
          </a:prstGeom>
          <a:solidFill>
            <a:srgbClr val="FFFFFF"/>
          </a:solidFill>
          <a:ln w="12700">
            <a:solidFill>
              <a:srgbClr val="B8D8DA"/>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365760" y="2377440"/>
            <a:ext cx="1188720" cy="1188720"/>
          </a:xfrm>
          <a:prstGeom prst="rect">
            <a:avLst/>
          </a:prstGeom>
          <a:solidFill>
            <a:srgbClr val="028090">
              <a:alpha val="12000"/>
            </a:srgbClr>
          </a:solidFill>
          <a:ln w="12700">
            <a:solidFill>
              <a:srgbClr val="028090">
                <a:alpha val="30000"/>
              </a:srgbClr>
            </a:solidFill>
            <a:prstDash val="solid"/>
          </a:ln>
        </p:spPr>
      </p:sp>
      <p:sp>
        <p:nvSpPr>
          <p:cNvPr id="13" name="Text 11"/>
          <p:cNvSpPr/>
          <p:nvPr/>
        </p:nvSpPr>
        <p:spPr>
          <a:xfrm>
            <a:off x="365760" y="2651760"/>
            <a:ext cx="1188720" cy="548640"/>
          </a:xfrm>
          <a:prstGeom prst="rect">
            <a:avLst/>
          </a:prstGeom>
          <a:noFill/>
          <a:ln/>
        </p:spPr>
        <p:txBody>
          <a:bodyPr wrap="square" rtlCol="0" anchor="ctr"/>
          <a:lstStyle/>
          <a:p>
            <a:pPr algn="ctr" indent="0" marL="0">
              <a:buNone/>
            </a:pPr>
            <a:r>
              <a:rPr lang="en-US" sz="1600" dirty="0">
                <a:solidFill>
                  <a:srgbClr val="000000"/>
                </a:solidFill>
                <a:latin typeface="Meiryo" pitchFamily="34" charset="0"/>
                <a:ea typeface="Meiryo" pitchFamily="34" charset="-122"/>
                <a:cs typeface="Meiryo" pitchFamily="34" charset="-120"/>
              </a:rPr>
              <a:t>🏠→🔑</a:t>
            </a:r>
            <a:endParaRPr lang="en-US" sz="1600" dirty="0"/>
          </a:p>
        </p:txBody>
      </p:sp>
      <p:sp>
        <p:nvSpPr>
          <p:cNvPr id="14" name="Text 12"/>
          <p:cNvSpPr/>
          <p:nvPr/>
        </p:nvSpPr>
        <p:spPr>
          <a:xfrm>
            <a:off x="1691640" y="2450592"/>
            <a:ext cx="6949440" cy="320040"/>
          </a:xfrm>
          <a:prstGeom prst="rect">
            <a:avLst/>
          </a:prstGeom>
          <a:noFill/>
          <a:ln/>
        </p:spPr>
        <p:txBody>
          <a:bodyPr wrap="square" rtlCol="0" anchor="ctr"/>
          <a:lstStyle/>
          <a:p>
            <a:pPr indent="0" marL="0">
              <a:buNone/>
            </a:pPr>
            <a:r>
              <a:rPr lang="en-US" sz="1400" b="1" dirty="0">
                <a:solidFill>
                  <a:srgbClr val="028090"/>
                </a:solidFill>
                <a:latin typeface="Meiryo" pitchFamily="34" charset="0"/>
                <a:ea typeface="Meiryo" pitchFamily="34" charset="-122"/>
                <a:cs typeface="Meiryo" pitchFamily="34" charset="-120"/>
              </a:rPr>
              <a:t>✅ 賃貸可能  賃貸（貸し出せる？）</a:t>
            </a:r>
            <a:endParaRPr lang="en-US" sz="1400" dirty="0"/>
          </a:p>
        </p:txBody>
      </p:sp>
      <p:sp>
        <p:nvSpPr>
          <p:cNvPr id="15" name="Text 13"/>
          <p:cNvSpPr/>
          <p:nvPr/>
        </p:nvSpPr>
        <p:spPr>
          <a:xfrm>
            <a:off x="1691640" y="2770632"/>
            <a:ext cx="6949440" cy="548640"/>
          </a:xfrm>
          <a:prstGeom prst="rect">
            <a:avLst/>
          </a:prstGeom>
          <a:noFill/>
          <a:ln/>
        </p:spPr>
        <p:txBody>
          <a:bodyPr wrap="square" rtlCol="0" anchor="ctr"/>
          <a:lstStyle/>
          <a:p>
            <a:pPr indent="0" marL="0">
              <a:buNone/>
            </a:pPr>
            <a:r>
              <a:rPr lang="en-US" sz="1050" dirty="0">
                <a:solidFill>
                  <a:srgbClr val="5E7C7C"/>
                </a:solidFill>
                <a:latin typeface="Meiryo" pitchFamily="34" charset="0"/>
                <a:ea typeface="Meiryo" pitchFamily="34" charset="-122"/>
                <a:cs typeface="Meiryo" pitchFamily="34" charset="-120"/>
              </a:rPr>
              <a:t>住宅として賃貸に出すことができます。ただし賃貸借契約は定期借地権の存続期間内に終了するよう設定することが必要です。残存期間が10年以下になった場合は定期借家契約等による特別な手続きが必要になります。</a:t>
            </a:r>
            <a:endParaRPr lang="en-US" sz="1050" dirty="0"/>
          </a:p>
        </p:txBody>
      </p:sp>
      <p:sp>
        <p:nvSpPr>
          <p:cNvPr id="16" name="Text 14"/>
          <p:cNvSpPr/>
          <p:nvPr/>
        </p:nvSpPr>
        <p:spPr>
          <a:xfrm>
            <a:off x="1691640" y="3328416"/>
            <a:ext cx="6949440" cy="182880"/>
          </a:xfrm>
          <a:prstGeom prst="rect">
            <a:avLst/>
          </a:prstGeom>
          <a:noFill/>
          <a:ln/>
        </p:spPr>
        <p:txBody>
          <a:bodyPr wrap="square" rtlCol="0" anchor="ctr"/>
          <a:lstStyle/>
          <a:p>
            <a:pPr indent="0" marL="0">
              <a:buNone/>
            </a:pPr>
            <a:r>
              <a:rPr lang="en-US" sz="950" dirty="0">
                <a:solidFill>
                  <a:srgbClr val="028090"/>
                </a:solidFill>
                <a:latin typeface="Meiryo" pitchFamily="34" charset="0"/>
                <a:ea typeface="Meiryo" pitchFamily="34" charset="-122"/>
                <a:cs typeface="Meiryo" pitchFamily="34" charset="-120"/>
              </a:rPr>
              <a:t>📌 注意：残存年数に応じて契約形態を調整すること</a:t>
            </a:r>
            <a:endParaRPr lang="en-US" sz="950" dirty="0"/>
          </a:p>
        </p:txBody>
      </p:sp>
      <p:sp>
        <p:nvSpPr>
          <p:cNvPr id="17" name="Shape 15"/>
          <p:cNvSpPr/>
          <p:nvPr/>
        </p:nvSpPr>
        <p:spPr>
          <a:xfrm>
            <a:off x="365760" y="3703320"/>
            <a:ext cx="8412480" cy="1188720"/>
          </a:xfrm>
          <a:prstGeom prst="rect">
            <a:avLst/>
          </a:prstGeom>
          <a:solidFill>
            <a:srgbClr val="FFFFFF"/>
          </a:solidFill>
          <a:ln w="12700">
            <a:solidFill>
              <a:srgbClr val="B8D8DA"/>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365760" y="3703320"/>
            <a:ext cx="1188720" cy="1188720"/>
          </a:xfrm>
          <a:prstGeom prst="rect">
            <a:avLst/>
          </a:prstGeom>
          <a:solidFill>
            <a:srgbClr val="028090">
              <a:alpha val="12000"/>
            </a:srgbClr>
          </a:solidFill>
          <a:ln w="12700">
            <a:solidFill>
              <a:srgbClr val="028090">
                <a:alpha val="30000"/>
              </a:srgbClr>
            </a:solidFill>
            <a:prstDash val="solid"/>
          </a:ln>
        </p:spPr>
      </p:sp>
      <p:sp>
        <p:nvSpPr>
          <p:cNvPr id="19" name="Text 17"/>
          <p:cNvSpPr/>
          <p:nvPr/>
        </p:nvSpPr>
        <p:spPr>
          <a:xfrm>
            <a:off x="365760" y="3977640"/>
            <a:ext cx="1188720" cy="548640"/>
          </a:xfrm>
          <a:prstGeom prst="rect">
            <a:avLst/>
          </a:prstGeom>
          <a:noFill/>
          <a:ln/>
        </p:spPr>
        <p:txBody>
          <a:bodyPr wrap="square" rtlCol="0" anchor="ctr"/>
          <a:lstStyle/>
          <a:p>
            <a:pPr algn="ctr" indent="0" marL="0">
              <a:buNone/>
            </a:pPr>
            <a:r>
              <a:rPr lang="en-US" sz="1600" dirty="0">
                <a:solidFill>
                  <a:srgbClr val="000000"/>
                </a:solidFill>
                <a:latin typeface="Meiryo" pitchFamily="34" charset="0"/>
                <a:ea typeface="Meiryo" pitchFamily="34" charset="-122"/>
                <a:cs typeface="Meiryo" pitchFamily="34" charset="-120"/>
              </a:rPr>
              <a:t>🏠→👨‍👩‍👧</a:t>
            </a:r>
            <a:endParaRPr lang="en-US" sz="1600" dirty="0"/>
          </a:p>
        </p:txBody>
      </p:sp>
      <p:sp>
        <p:nvSpPr>
          <p:cNvPr id="20" name="Text 18"/>
          <p:cNvSpPr/>
          <p:nvPr/>
        </p:nvSpPr>
        <p:spPr>
          <a:xfrm>
            <a:off x="1691640" y="3776472"/>
            <a:ext cx="6949440" cy="320040"/>
          </a:xfrm>
          <a:prstGeom prst="rect">
            <a:avLst/>
          </a:prstGeom>
          <a:noFill/>
          <a:ln/>
        </p:spPr>
        <p:txBody>
          <a:bodyPr wrap="square" rtlCol="0" anchor="ctr"/>
          <a:lstStyle/>
          <a:p>
            <a:pPr indent="0" marL="0">
              <a:buNone/>
            </a:pPr>
            <a:r>
              <a:rPr lang="en-US" sz="1400" b="1" dirty="0">
                <a:solidFill>
                  <a:srgbClr val="028090"/>
                </a:solidFill>
                <a:latin typeface="Meiryo" pitchFamily="34" charset="0"/>
                <a:ea typeface="Meiryo" pitchFamily="34" charset="-122"/>
                <a:cs typeface="Meiryo" pitchFamily="34" charset="-120"/>
              </a:rPr>
              <a:t>✅ 相続可能  相続（子・孫に引き継げる？）</a:t>
            </a:r>
            <a:endParaRPr lang="en-US" sz="1400" dirty="0"/>
          </a:p>
        </p:txBody>
      </p:sp>
      <p:sp>
        <p:nvSpPr>
          <p:cNvPr id="21" name="Text 19"/>
          <p:cNvSpPr/>
          <p:nvPr/>
        </p:nvSpPr>
        <p:spPr>
          <a:xfrm>
            <a:off x="1691640" y="4096512"/>
            <a:ext cx="6949440" cy="548640"/>
          </a:xfrm>
          <a:prstGeom prst="rect">
            <a:avLst/>
          </a:prstGeom>
          <a:noFill/>
          <a:ln/>
        </p:spPr>
        <p:txBody>
          <a:bodyPr wrap="square" rtlCol="0" anchor="ctr"/>
          <a:lstStyle/>
          <a:p>
            <a:pPr indent="0" marL="0">
              <a:buNone/>
            </a:pPr>
            <a:r>
              <a:rPr lang="en-US" sz="1050" dirty="0">
                <a:solidFill>
                  <a:srgbClr val="5E7C7C"/>
                </a:solidFill>
                <a:latin typeface="Meiryo" pitchFamily="34" charset="0"/>
                <a:ea typeface="Meiryo" pitchFamily="34" charset="-122"/>
                <a:cs typeface="Meiryo" pitchFamily="34" charset="-120"/>
              </a:rPr>
              <a:t>定借マンションは相続の対象です。相続した場合は速やかに地主への通知が必要です（一般的に「相続に関する通知書」を提出）。相続税評価は建物の固定資産税評価額と定期借地権の残存年数を反映した評価額の合計で計算されます。</a:t>
            </a:r>
            <a:endParaRPr lang="en-US" sz="1050" dirty="0"/>
          </a:p>
        </p:txBody>
      </p:sp>
      <p:sp>
        <p:nvSpPr>
          <p:cNvPr id="22" name="Text 20"/>
          <p:cNvSpPr/>
          <p:nvPr/>
        </p:nvSpPr>
        <p:spPr>
          <a:xfrm>
            <a:off x="1691640" y="4654296"/>
            <a:ext cx="6949440" cy="182880"/>
          </a:xfrm>
          <a:prstGeom prst="rect">
            <a:avLst/>
          </a:prstGeom>
          <a:noFill/>
          <a:ln/>
        </p:spPr>
        <p:txBody>
          <a:bodyPr wrap="square" rtlCol="0" anchor="ctr"/>
          <a:lstStyle/>
          <a:p>
            <a:pPr indent="0" marL="0">
              <a:buNone/>
            </a:pPr>
            <a:r>
              <a:rPr lang="en-US" sz="950" dirty="0">
                <a:solidFill>
                  <a:srgbClr val="028090"/>
                </a:solidFill>
                <a:latin typeface="Meiryo" pitchFamily="34" charset="0"/>
                <a:ea typeface="Meiryo" pitchFamily="34" charset="-122"/>
                <a:cs typeface="Meiryo" pitchFamily="34" charset="-120"/>
              </a:rPr>
              <a:t>📌 注意：相続税評価の詳細は税理士に確認を</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3B45"/>
          </a:solidFill>
          <a:ln w="12700">
            <a:solidFill>
              <a:srgbClr val="0D3B45"/>
            </a:solidFill>
            <a:prstDash val="solid"/>
          </a:ln>
        </p:spPr>
      </p:sp>
      <p:sp>
        <p:nvSpPr>
          <p:cNvPr id="3" name="Shape 1"/>
          <p:cNvSpPr/>
          <p:nvPr/>
        </p:nvSpPr>
        <p:spPr>
          <a:xfrm>
            <a:off x="0" y="0"/>
            <a:ext cx="137160" cy="914400"/>
          </a:xfrm>
          <a:prstGeom prst="rect">
            <a:avLst/>
          </a:prstGeom>
          <a:solidFill>
            <a:srgbClr val="00A896"/>
          </a:solidFill>
          <a:ln w="12700">
            <a:solidFill>
              <a:srgbClr val="00A896"/>
            </a:solidFill>
            <a:prstDash val="solid"/>
          </a:ln>
        </p:spPr>
      </p:sp>
      <p:sp>
        <p:nvSpPr>
          <p:cNvPr id="4" name="Text 2"/>
          <p:cNvSpPr/>
          <p:nvPr/>
        </p:nvSpPr>
        <p:spPr>
          <a:xfrm>
            <a:off x="365760" y="91440"/>
            <a:ext cx="8229600" cy="6858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07  期間満了後はどうなる？</a:t>
            </a:r>
            <a:endParaRPr lang="en-US" sz="2200" dirty="0"/>
          </a:p>
        </p:txBody>
      </p:sp>
      <p:sp>
        <p:nvSpPr>
          <p:cNvPr id="5" name="Shape 3"/>
          <p:cNvSpPr/>
          <p:nvPr/>
        </p:nvSpPr>
        <p:spPr>
          <a:xfrm>
            <a:off x="365760" y="1188720"/>
            <a:ext cx="548640" cy="548640"/>
          </a:xfrm>
          <a:prstGeom prst="ellipse">
            <a:avLst/>
          </a:prstGeom>
          <a:solidFill>
            <a:srgbClr val="0D3B45"/>
          </a:solidFill>
          <a:ln w="12700">
            <a:solidFill>
              <a:srgbClr val="0D3B45"/>
            </a:solidFill>
            <a:prstDash val="solid"/>
          </a:ln>
        </p:spPr>
      </p:sp>
      <p:sp>
        <p:nvSpPr>
          <p:cNvPr id="6" name="Text 4"/>
          <p:cNvSpPr/>
          <p:nvPr/>
        </p:nvSpPr>
        <p:spPr>
          <a:xfrm>
            <a:off x="365760" y="1188720"/>
            <a:ext cx="548640" cy="548640"/>
          </a:xfrm>
          <a:prstGeom prst="rect">
            <a:avLst/>
          </a:prstGeom>
          <a:noFill/>
          <a:ln/>
        </p:spPr>
        <p:txBody>
          <a:bodyPr wrap="square" rtlCol="0" anchor="ctr"/>
          <a:lstStyle/>
          <a:p>
            <a:pPr algn="ctr" indent="0" marL="0">
              <a:buNone/>
            </a:pPr>
            <a:r>
              <a:rPr lang="en-US" sz="1400" dirty="0">
                <a:solidFill>
                  <a:srgbClr val="000000"/>
                </a:solidFill>
                <a:latin typeface="Meiryo" pitchFamily="34" charset="0"/>
                <a:ea typeface="Meiryo" pitchFamily="34" charset="-122"/>
                <a:cs typeface="Meiryo" pitchFamily="34" charset="-120"/>
              </a:rPr>
              <a:t>🔑</a:t>
            </a:r>
            <a:endParaRPr lang="en-US" sz="1400" dirty="0"/>
          </a:p>
        </p:txBody>
      </p:sp>
      <p:sp>
        <p:nvSpPr>
          <p:cNvPr id="7" name="Shape 5"/>
          <p:cNvSpPr/>
          <p:nvPr/>
        </p:nvSpPr>
        <p:spPr>
          <a:xfrm>
            <a:off x="640080" y="1755648"/>
            <a:ext cx="0" cy="182880"/>
          </a:xfrm>
          <a:prstGeom prst="line">
            <a:avLst/>
          </a:prstGeom>
          <a:noFill/>
          <a:ln w="25400">
            <a:solidFill>
              <a:srgbClr val="5E7C7C"/>
            </a:solidFill>
            <a:prstDash val="solid"/>
          </a:ln>
        </p:spPr>
      </p:sp>
      <p:sp>
        <p:nvSpPr>
          <p:cNvPr id="8" name="Shape 6"/>
          <p:cNvSpPr/>
          <p:nvPr/>
        </p:nvSpPr>
        <p:spPr>
          <a:xfrm>
            <a:off x="1097280" y="1143000"/>
            <a:ext cx="7498080" cy="640080"/>
          </a:xfrm>
          <a:prstGeom prst="rect">
            <a:avLst/>
          </a:prstGeom>
          <a:solidFill>
            <a:srgbClr val="FFFFFF"/>
          </a:solidFill>
          <a:ln w="12700">
            <a:solidFill>
              <a:srgbClr val="E2E8F0"/>
            </a:solidFill>
            <a:prstDash val="solid"/>
          </a:ln>
        </p:spPr>
      </p:sp>
      <p:sp>
        <p:nvSpPr>
          <p:cNvPr id="9" name="Text 7"/>
          <p:cNvSpPr/>
          <p:nvPr/>
        </p:nvSpPr>
        <p:spPr>
          <a:xfrm>
            <a:off x="1234440" y="1188720"/>
            <a:ext cx="1371600" cy="228600"/>
          </a:xfrm>
          <a:prstGeom prst="rect">
            <a:avLst/>
          </a:prstGeom>
          <a:noFill/>
          <a:ln/>
        </p:spPr>
        <p:txBody>
          <a:bodyPr wrap="square" rtlCol="0" anchor="ctr"/>
          <a:lstStyle/>
          <a:p>
            <a:pPr indent="0" marL="0">
              <a:buNone/>
            </a:pPr>
            <a:r>
              <a:rPr lang="en-US" sz="1100" b="1" dirty="0">
                <a:solidFill>
                  <a:srgbClr val="0D3B45"/>
                </a:solidFill>
                <a:latin typeface="Meiryo" pitchFamily="34" charset="0"/>
                <a:ea typeface="Meiryo" pitchFamily="34" charset="-122"/>
                <a:cs typeface="Meiryo" pitchFamily="34" charset="-120"/>
              </a:rPr>
              <a:t>購入時</a:t>
            </a:r>
            <a:endParaRPr lang="en-US" sz="1100" dirty="0"/>
          </a:p>
        </p:txBody>
      </p:sp>
      <p:sp>
        <p:nvSpPr>
          <p:cNvPr id="10" name="Text 8"/>
          <p:cNvSpPr/>
          <p:nvPr/>
        </p:nvSpPr>
        <p:spPr>
          <a:xfrm>
            <a:off x="2606040" y="1207008"/>
            <a:ext cx="5852160" cy="41148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借地権期間スタート（50〜75年）</a:t>
            </a:r>
            <a:endParaRPr lang="en-US" sz="1100" dirty="0"/>
          </a:p>
        </p:txBody>
      </p:sp>
      <p:sp>
        <p:nvSpPr>
          <p:cNvPr id="11" name="Shape 9"/>
          <p:cNvSpPr/>
          <p:nvPr/>
        </p:nvSpPr>
        <p:spPr>
          <a:xfrm>
            <a:off x="365760" y="1920240"/>
            <a:ext cx="548640" cy="548640"/>
          </a:xfrm>
          <a:prstGeom prst="ellipse">
            <a:avLst/>
          </a:prstGeom>
          <a:solidFill>
            <a:srgbClr val="0D3B45"/>
          </a:solidFill>
          <a:ln w="12700">
            <a:solidFill>
              <a:srgbClr val="0D3B45"/>
            </a:solidFill>
            <a:prstDash val="solid"/>
          </a:ln>
        </p:spPr>
      </p:sp>
      <p:sp>
        <p:nvSpPr>
          <p:cNvPr id="12" name="Text 10"/>
          <p:cNvSpPr/>
          <p:nvPr/>
        </p:nvSpPr>
        <p:spPr>
          <a:xfrm>
            <a:off x="365760" y="1920240"/>
            <a:ext cx="548640" cy="548640"/>
          </a:xfrm>
          <a:prstGeom prst="rect">
            <a:avLst/>
          </a:prstGeom>
          <a:noFill/>
          <a:ln/>
        </p:spPr>
        <p:txBody>
          <a:bodyPr wrap="square" rtlCol="0" anchor="ctr"/>
          <a:lstStyle/>
          <a:p>
            <a:pPr algn="ctr" indent="0" marL="0">
              <a:buNone/>
            </a:pPr>
            <a:r>
              <a:rPr lang="en-US" sz="1400" dirty="0">
                <a:solidFill>
                  <a:srgbClr val="000000"/>
                </a:solidFill>
                <a:latin typeface="Meiryo" pitchFamily="34" charset="0"/>
                <a:ea typeface="Meiryo" pitchFamily="34" charset="-122"/>
                <a:cs typeface="Meiryo" pitchFamily="34" charset="-120"/>
              </a:rPr>
              <a:t>🏠</a:t>
            </a:r>
            <a:endParaRPr lang="en-US" sz="1400" dirty="0"/>
          </a:p>
        </p:txBody>
      </p:sp>
      <p:sp>
        <p:nvSpPr>
          <p:cNvPr id="13" name="Shape 11"/>
          <p:cNvSpPr/>
          <p:nvPr/>
        </p:nvSpPr>
        <p:spPr>
          <a:xfrm>
            <a:off x="640080" y="2487168"/>
            <a:ext cx="0" cy="182880"/>
          </a:xfrm>
          <a:prstGeom prst="line">
            <a:avLst/>
          </a:prstGeom>
          <a:noFill/>
          <a:ln w="25400">
            <a:solidFill>
              <a:srgbClr val="5E7C7C"/>
            </a:solidFill>
            <a:prstDash val="solid"/>
          </a:ln>
        </p:spPr>
      </p:sp>
      <p:sp>
        <p:nvSpPr>
          <p:cNvPr id="14" name="Shape 12"/>
          <p:cNvSpPr/>
          <p:nvPr/>
        </p:nvSpPr>
        <p:spPr>
          <a:xfrm>
            <a:off x="1097280" y="1874520"/>
            <a:ext cx="7498080" cy="640080"/>
          </a:xfrm>
          <a:prstGeom prst="rect">
            <a:avLst/>
          </a:prstGeom>
          <a:solidFill>
            <a:srgbClr val="FFFFFF"/>
          </a:solidFill>
          <a:ln w="12700">
            <a:solidFill>
              <a:srgbClr val="E2E8F0"/>
            </a:solidFill>
            <a:prstDash val="solid"/>
          </a:ln>
        </p:spPr>
      </p:sp>
      <p:sp>
        <p:nvSpPr>
          <p:cNvPr id="15" name="Text 13"/>
          <p:cNvSpPr/>
          <p:nvPr/>
        </p:nvSpPr>
        <p:spPr>
          <a:xfrm>
            <a:off x="1234440" y="1920240"/>
            <a:ext cx="1371600" cy="228600"/>
          </a:xfrm>
          <a:prstGeom prst="rect">
            <a:avLst/>
          </a:prstGeom>
          <a:noFill/>
          <a:ln/>
        </p:spPr>
        <p:txBody>
          <a:bodyPr wrap="square" rtlCol="0" anchor="ctr"/>
          <a:lstStyle/>
          <a:p>
            <a:pPr indent="0" marL="0">
              <a:buNone/>
            </a:pPr>
            <a:r>
              <a:rPr lang="en-US" sz="1100" b="1" dirty="0">
                <a:solidFill>
                  <a:srgbClr val="0D3B45"/>
                </a:solidFill>
                <a:latin typeface="Meiryo" pitchFamily="34" charset="0"/>
                <a:ea typeface="Meiryo" pitchFamily="34" charset="-122"/>
                <a:cs typeface="Meiryo" pitchFamily="34" charset="-120"/>
              </a:rPr>
              <a:t>居住期間中</a:t>
            </a:r>
            <a:endParaRPr lang="en-US" sz="1100" dirty="0"/>
          </a:p>
        </p:txBody>
      </p:sp>
      <p:sp>
        <p:nvSpPr>
          <p:cNvPr id="16" name="Text 14"/>
          <p:cNvSpPr/>
          <p:nvPr/>
        </p:nvSpPr>
        <p:spPr>
          <a:xfrm>
            <a:off x="2606040" y="1938528"/>
            <a:ext cx="5852160" cy="41148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売却・賃貸・相続が可能。地代・積立金を毎月積立。</a:t>
            </a:r>
            <a:endParaRPr lang="en-US" sz="1100" dirty="0"/>
          </a:p>
        </p:txBody>
      </p:sp>
      <p:sp>
        <p:nvSpPr>
          <p:cNvPr id="17" name="Shape 15"/>
          <p:cNvSpPr/>
          <p:nvPr/>
        </p:nvSpPr>
        <p:spPr>
          <a:xfrm>
            <a:off x="365760" y="2651760"/>
            <a:ext cx="548640" cy="548640"/>
          </a:xfrm>
          <a:prstGeom prst="ellipse">
            <a:avLst/>
          </a:prstGeom>
          <a:solidFill>
            <a:srgbClr val="0D3B45"/>
          </a:solidFill>
          <a:ln w="12700">
            <a:solidFill>
              <a:srgbClr val="0D3B45"/>
            </a:solidFill>
            <a:prstDash val="solid"/>
          </a:ln>
        </p:spPr>
      </p:sp>
      <p:sp>
        <p:nvSpPr>
          <p:cNvPr id="18" name="Text 16"/>
          <p:cNvSpPr/>
          <p:nvPr/>
        </p:nvSpPr>
        <p:spPr>
          <a:xfrm>
            <a:off x="365760" y="2651760"/>
            <a:ext cx="548640" cy="548640"/>
          </a:xfrm>
          <a:prstGeom prst="rect">
            <a:avLst/>
          </a:prstGeom>
          <a:noFill/>
          <a:ln/>
        </p:spPr>
        <p:txBody>
          <a:bodyPr wrap="square" rtlCol="0" anchor="ctr"/>
          <a:lstStyle/>
          <a:p>
            <a:pPr algn="ctr" indent="0" marL="0">
              <a:buNone/>
            </a:pPr>
            <a:r>
              <a:rPr lang="en-US" sz="1400" dirty="0">
                <a:solidFill>
                  <a:srgbClr val="000000"/>
                </a:solidFill>
                <a:latin typeface="Meiryo" pitchFamily="34" charset="0"/>
                <a:ea typeface="Meiryo" pitchFamily="34" charset="-122"/>
                <a:cs typeface="Meiryo" pitchFamily="34" charset="-120"/>
              </a:rPr>
              <a:t>📋</a:t>
            </a:r>
            <a:endParaRPr lang="en-US" sz="1400" dirty="0"/>
          </a:p>
        </p:txBody>
      </p:sp>
      <p:sp>
        <p:nvSpPr>
          <p:cNvPr id="19" name="Shape 17"/>
          <p:cNvSpPr/>
          <p:nvPr/>
        </p:nvSpPr>
        <p:spPr>
          <a:xfrm>
            <a:off x="640080" y="3218688"/>
            <a:ext cx="0" cy="182880"/>
          </a:xfrm>
          <a:prstGeom prst="line">
            <a:avLst/>
          </a:prstGeom>
          <a:noFill/>
          <a:ln w="25400">
            <a:solidFill>
              <a:srgbClr val="5E7C7C"/>
            </a:solidFill>
            <a:prstDash val="solid"/>
          </a:ln>
        </p:spPr>
      </p:sp>
      <p:sp>
        <p:nvSpPr>
          <p:cNvPr id="20" name="Shape 18"/>
          <p:cNvSpPr/>
          <p:nvPr/>
        </p:nvSpPr>
        <p:spPr>
          <a:xfrm>
            <a:off x="1097280" y="2606040"/>
            <a:ext cx="7498080" cy="640080"/>
          </a:xfrm>
          <a:prstGeom prst="rect">
            <a:avLst/>
          </a:prstGeom>
          <a:solidFill>
            <a:srgbClr val="FFFFFF"/>
          </a:solidFill>
          <a:ln w="12700">
            <a:solidFill>
              <a:srgbClr val="E2E8F0"/>
            </a:solidFill>
            <a:prstDash val="solid"/>
          </a:ln>
        </p:spPr>
      </p:sp>
      <p:sp>
        <p:nvSpPr>
          <p:cNvPr id="21" name="Text 19"/>
          <p:cNvSpPr/>
          <p:nvPr/>
        </p:nvSpPr>
        <p:spPr>
          <a:xfrm>
            <a:off x="1234440" y="2651760"/>
            <a:ext cx="1371600" cy="228600"/>
          </a:xfrm>
          <a:prstGeom prst="rect">
            <a:avLst/>
          </a:prstGeom>
          <a:noFill/>
          <a:ln/>
        </p:spPr>
        <p:txBody>
          <a:bodyPr wrap="square" rtlCol="0" anchor="ctr"/>
          <a:lstStyle/>
          <a:p>
            <a:pPr indent="0" marL="0">
              <a:buNone/>
            </a:pPr>
            <a:r>
              <a:rPr lang="en-US" sz="1100" b="1" dirty="0">
                <a:solidFill>
                  <a:srgbClr val="0D3B45"/>
                </a:solidFill>
                <a:latin typeface="Meiryo" pitchFamily="34" charset="0"/>
                <a:ea typeface="Meiryo" pitchFamily="34" charset="-122"/>
                <a:cs typeface="Meiryo" pitchFamily="34" charset="-120"/>
              </a:rPr>
              <a:t>期間満了1〜2年前</a:t>
            </a:r>
            <a:endParaRPr lang="en-US" sz="1100" dirty="0"/>
          </a:p>
        </p:txBody>
      </p:sp>
      <p:sp>
        <p:nvSpPr>
          <p:cNvPr id="22" name="Text 20"/>
          <p:cNvSpPr/>
          <p:nvPr/>
        </p:nvSpPr>
        <p:spPr>
          <a:xfrm>
            <a:off x="2606040" y="2670048"/>
            <a:ext cx="5852160" cy="41148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管理組合が解体計画を策定。住民に通知。</a:t>
            </a:r>
            <a:endParaRPr lang="en-US" sz="1100" dirty="0"/>
          </a:p>
        </p:txBody>
      </p:sp>
      <p:sp>
        <p:nvSpPr>
          <p:cNvPr id="23" name="Shape 21"/>
          <p:cNvSpPr/>
          <p:nvPr/>
        </p:nvSpPr>
        <p:spPr>
          <a:xfrm>
            <a:off x="365760" y="3383280"/>
            <a:ext cx="548640" cy="548640"/>
          </a:xfrm>
          <a:prstGeom prst="ellipse">
            <a:avLst/>
          </a:prstGeom>
          <a:solidFill>
            <a:srgbClr val="0D3B45"/>
          </a:solidFill>
          <a:ln w="12700">
            <a:solidFill>
              <a:srgbClr val="0D3B45"/>
            </a:solidFill>
            <a:prstDash val="solid"/>
          </a:ln>
        </p:spPr>
      </p:sp>
      <p:sp>
        <p:nvSpPr>
          <p:cNvPr id="24" name="Text 22"/>
          <p:cNvSpPr/>
          <p:nvPr/>
        </p:nvSpPr>
        <p:spPr>
          <a:xfrm>
            <a:off x="365760" y="3383280"/>
            <a:ext cx="548640" cy="548640"/>
          </a:xfrm>
          <a:prstGeom prst="rect">
            <a:avLst/>
          </a:prstGeom>
          <a:noFill/>
          <a:ln/>
        </p:spPr>
        <p:txBody>
          <a:bodyPr wrap="square" rtlCol="0" anchor="ctr"/>
          <a:lstStyle/>
          <a:p>
            <a:pPr algn="ctr" indent="0" marL="0">
              <a:buNone/>
            </a:pPr>
            <a:r>
              <a:rPr lang="en-US" sz="1400" dirty="0">
                <a:solidFill>
                  <a:srgbClr val="000000"/>
                </a:solidFill>
                <a:latin typeface="Meiryo" pitchFamily="34" charset="0"/>
                <a:ea typeface="Meiryo" pitchFamily="34" charset="-122"/>
                <a:cs typeface="Meiryo" pitchFamily="34" charset="-120"/>
              </a:rPr>
              <a:t>🏗️</a:t>
            </a:r>
            <a:endParaRPr lang="en-US" sz="1400" dirty="0"/>
          </a:p>
        </p:txBody>
      </p:sp>
      <p:sp>
        <p:nvSpPr>
          <p:cNvPr id="25" name="Shape 23"/>
          <p:cNvSpPr/>
          <p:nvPr/>
        </p:nvSpPr>
        <p:spPr>
          <a:xfrm>
            <a:off x="640080" y="3950208"/>
            <a:ext cx="0" cy="182880"/>
          </a:xfrm>
          <a:prstGeom prst="line">
            <a:avLst/>
          </a:prstGeom>
          <a:noFill/>
          <a:ln w="25400">
            <a:solidFill>
              <a:srgbClr val="5E7C7C"/>
            </a:solidFill>
            <a:prstDash val="solid"/>
          </a:ln>
        </p:spPr>
      </p:sp>
      <p:sp>
        <p:nvSpPr>
          <p:cNvPr id="26" name="Shape 24"/>
          <p:cNvSpPr/>
          <p:nvPr/>
        </p:nvSpPr>
        <p:spPr>
          <a:xfrm>
            <a:off x="1097280" y="3337560"/>
            <a:ext cx="7498080" cy="640080"/>
          </a:xfrm>
          <a:prstGeom prst="rect">
            <a:avLst/>
          </a:prstGeom>
          <a:solidFill>
            <a:srgbClr val="FFF0E8"/>
          </a:solidFill>
          <a:ln w="12700">
            <a:solidFill>
              <a:srgbClr val="FFCCAA"/>
            </a:solidFill>
            <a:prstDash val="solid"/>
          </a:ln>
        </p:spPr>
      </p:sp>
      <p:sp>
        <p:nvSpPr>
          <p:cNvPr id="27" name="Text 25"/>
          <p:cNvSpPr/>
          <p:nvPr/>
        </p:nvSpPr>
        <p:spPr>
          <a:xfrm>
            <a:off x="1234440" y="3383280"/>
            <a:ext cx="1371600" cy="228600"/>
          </a:xfrm>
          <a:prstGeom prst="rect">
            <a:avLst/>
          </a:prstGeom>
          <a:noFill/>
          <a:ln/>
        </p:spPr>
        <p:txBody>
          <a:bodyPr wrap="square" rtlCol="0" anchor="ctr"/>
          <a:lstStyle/>
          <a:p>
            <a:pPr indent="0" marL="0">
              <a:buNone/>
            </a:pPr>
            <a:r>
              <a:rPr lang="en-US" sz="1100" b="1" dirty="0">
                <a:solidFill>
                  <a:srgbClr val="0D3B45"/>
                </a:solidFill>
                <a:latin typeface="Meiryo" pitchFamily="34" charset="0"/>
                <a:ea typeface="Meiryo" pitchFamily="34" charset="-122"/>
                <a:cs typeface="Meiryo" pitchFamily="34" charset="-120"/>
              </a:rPr>
              <a:t>期間満了時</a:t>
            </a:r>
            <a:endParaRPr lang="en-US" sz="1100" dirty="0"/>
          </a:p>
        </p:txBody>
      </p:sp>
      <p:sp>
        <p:nvSpPr>
          <p:cNvPr id="28" name="Text 26"/>
          <p:cNvSpPr/>
          <p:nvPr/>
        </p:nvSpPr>
        <p:spPr>
          <a:xfrm>
            <a:off x="2606040" y="3401568"/>
            <a:ext cx="5852160" cy="41148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建物を解体。解体費用は積立金から充当。</a:t>
            </a:r>
            <a:endParaRPr lang="en-US" sz="1100" dirty="0"/>
          </a:p>
        </p:txBody>
      </p:sp>
      <p:sp>
        <p:nvSpPr>
          <p:cNvPr id="29" name="Shape 27"/>
          <p:cNvSpPr/>
          <p:nvPr/>
        </p:nvSpPr>
        <p:spPr>
          <a:xfrm>
            <a:off x="365760" y="4114800"/>
            <a:ext cx="548640" cy="548640"/>
          </a:xfrm>
          <a:prstGeom prst="ellipse">
            <a:avLst/>
          </a:prstGeom>
          <a:solidFill>
            <a:srgbClr val="028090"/>
          </a:solidFill>
          <a:ln w="12700">
            <a:solidFill>
              <a:srgbClr val="0D3B45"/>
            </a:solidFill>
            <a:prstDash val="solid"/>
          </a:ln>
        </p:spPr>
      </p:sp>
      <p:sp>
        <p:nvSpPr>
          <p:cNvPr id="30" name="Text 28"/>
          <p:cNvSpPr/>
          <p:nvPr/>
        </p:nvSpPr>
        <p:spPr>
          <a:xfrm>
            <a:off x="365760" y="4114800"/>
            <a:ext cx="548640" cy="548640"/>
          </a:xfrm>
          <a:prstGeom prst="rect">
            <a:avLst/>
          </a:prstGeom>
          <a:noFill/>
          <a:ln/>
        </p:spPr>
        <p:txBody>
          <a:bodyPr wrap="square" rtlCol="0" anchor="ctr"/>
          <a:lstStyle/>
          <a:p>
            <a:pPr algn="ctr" indent="0" marL="0">
              <a:buNone/>
            </a:pPr>
            <a:r>
              <a:rPr lang="en-US" sz="1400" dirty="0">
                <a:solidFill>
                  <a:srgbClr val="000000"/>
                </a:solidFill>
                <a:latin typeface="Meiryo" pitchFamily="34" charset="0"/>
                <a:ea typeface="Meiryo" pitchFamily="34" charset="-122"/>
                <a:cs typeface="Meiryo" pitchFamily="34" charset="-120"/>
              </a:rPr>
              <a:t>🌱</a:t>
            </a:r>
            <a:endParaRPr lang="en-US" sz="1400" dirty="0"/>
          </a:p>
        </p:txBody>
      </p:sp>
      <p:sp>
        <p:nvSpPr>
          <p:cNvPr id="31" name="Shape 29"/>
          <p:cNvSpPr/>
          <p:nvPr/>
        </p:nvSpPr>
        <p:spPr>
          <a:xfrm>
            <a:off x="1097280" y="4069080"/>
            <a:ext cx="7498080" cy="640080"/>
          </a:xfrm>
          <a:prstGeom prst="rect">
            <a:avLst/>
          </a:prstGeom>
          <a:solidFill>
            <a:srgbClr val="E8F5F0"/>
          </a:solidFill>
          <a:ln w="12700">
            <a:solidFill>
              <a:srgbClr val="A0D4C0"/>
            </a:solidFill>
            <a:prstDash val="solid"/>
          </a:ln>
        </p:spPr>
      </p:sp>
      <p:sp>
        <p:nvSpPr>
          <p:cNvPr id="32" name="Text 30"/>
          <p:cNvSpPr/>
          <p:nvPr/>
        </p:nvSpPr>
        <p:spPr>
          <a:xfrm>
            <a:off x="1234440" y="4114800"/>
            <a:ext cx="1371600" cy="228600"/>
          </a:xfrm>
          <a:prstGeom prst="rect">
            <a:avLst/>
          </a:prstGeom>
          <a:noFill/>
          <a:ln/>
        </p:spPr>
        <p:txBody>
          <a:bodyPr wrap="square" rtlCol="0" anchor="ctr"/>
          <a:lstStyle/>
          <a:p>
            <a:pPr indent="0" marL="0">
              <a:buNone/>
            </a:pPr>
            <a:r>
              <a:rPr lang="en-US" sz="1100" b="1" dirty="0">
                <a:solidFill>
                  <a:srgbClr val="0D3B45"/>
                </a:solidFill>
                <a:latin typeface="Meiryo" pitchFamily="34" charset="0"/>
                <a:ea typeface="Meiryo" pitchFamily="34" charset="-122"/>
                <a:cs typeface="Meiryo" pitchFamily="34" charset="-120"/>
              </a:rPr>
              <a:t>返還完了</a:t>
            </a:r>
            <a:endParaRPr lang="en-US" sz="1100" dirty="0"/>
          </a:p>
        </p:txBody>
      </p:sp>
      <p:sp>
        <p:nvSpPr>
          <p:cNvPr id="33" name="Text 31"/>
          <p:cNvSpPr/>
          <p:nvPr/>
        </p:nvSpPr>
        <p:spPr>
          <a:xfrm>
            <a:off x="2606040" y="4133088"/>
            <a:ext cx="5852160" cy="411480"/>
          </a:xfrm>
          <a:prstGeom prst="rect">
            <a:avLst/>
          </a:prstGeom>
          <a:noFill/>
          <a:ln/>
        </p:spPr>
        <p:txBody>
          <a:bodyPr wrap="square" rtlCol="0" anchor="ctr"/>
          <a:lstStyle/>
          <a:p>
            <a:pPr indent="0" marL="0">
              <a:buNone/>
            </a:pPr>
            <a:r>
              <a:rPr lang="en-US" sz="1100" dirty="0">
                <a:solidFill>
                  <a:srgbClr val="5E7C7C"/>
                </a:solidFill>
                <a:latin typeface="Meiryo" pitchFamily="34" charset="0"/>
                <a:ea typeface="Meiryo" pitchFamily="34" charset="-122"/>
                <a:cs typeface="Meiryo" pitchFamily="34" charset="-120"/>
              </a:rPr>
              <a:t>更地にして地主に返還。借地権は消滅。</a:t>
            </a:r>
            <a:endParaRPr lang="en-US" sz="1100" dirty="0"/>
          </a:p>
        </p:txBody>
      </p:sp>
      <p:sp>
        <p:nvSpPr>
          <p:cNvPr id="34" name="Shape 32"/>
          <p:cNvSpPr/>
          <p:nvPr/>
        </p:nvSpPr>
        <p:spPr>
          <a:xfrm>
            <a:off x="365760" y="4754880"/>
            <a:ext cx="8412480" cy="182880"/>
          </a:xfrm>
          <a:prstGeom prst="rect">
            <a:avLst/>
          </a:prstGeom>
          <a:solidFill>
            <a:srgbClr val="028090">
              <a:alpha val="20000"/>
            </a:srgbClr>
          </a:solidFill>
          <a:ln w="12700">
            <a:solidFill>
              <a:srgbClr val="028090">
                <a:alpha val="40000"/>
              </a:srgbClr>
            </a:solidFill>
            <a:prstDash val="solid"/>
          </a:ln>
        </p:spPr>
      </p:sp>
      <p:sp>
        <p:nvSpPr>
          <p:cNvPr id="35" name="Text 33"/>
          <p:cNvSpPr/>
          <p:nvPr/>
        </p:nvSpPr>
        <p:spPr>
          <a:xfrm>
            <a:off x="502920" y="4773168"/>
            <a:ext cx="8229600" cy="146304"/>
          </a:xfrm>
          <a:prstGeom prst="rect">
            <a:avLst/>
          </a:prstGeom>
          <a:noFill/>
          <a:ln/>
        </p:spPr>
        <p:txBody>
          <a:bodyPr wrap="square" rtlCol="0" anchor="ctr"/>
          <a:lstStyle/>
          <a:p>
            <a:pPr indent="0" marL="0">
              <a:buNone/>
            </a:pPr>
            <a:r>
              <a:rPr lang="en-US" sz="950" dirty="0">
                <a:solidFill>
                  <a:srgbClr val="0D3B45"/>
                </a:solidFill>
                <a:latin typeface="Meiryo" pitchFamily="34" charset="0"/>
                <a:ea typeface="Meiryo" pitchFamily="34" charset="-122"/>
                <a:cs typeface="Meiryo" pitchFamily="34" charset="-120"/>
              </a:rPr>
              <a:t>ポイント：更新・建物買取請求は一切不可。解体費用は毎月の積立金でカバーされる設計になっています。</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7"/>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3B45"/>
          </a:solidFill>
          <a:ln w="12700">
            <a:solidFill>
              <a:srgbClr val="0D3B45"/>
            </a:solidFill>
            <a:prstDash val="solid"/>
          </a:ln>
        </p:spPr>
      </p:sp>
      <p:sp>
        <p:nvSpPr>
          <p:cNvPr id="3" name="Shape 1"/>
          <p:cNvSpPr/>
          <p:nvPr/>
        </p:nvSpPr>
        <p:spPr>
          <a:xfrm>
            <a:off x="0" y="0"/>
            <a:ext cx="137160" cy="914400"/>
          </a:xfrm>
          <a:prstGeom prst="rect">
            <a:avLst/>
          </a:prstGeom>
          <a:solidFill>
            <a:srgbClr val="00A896"/>
          </a:solidFill>
          <a:ln w="12700">
            <a:solidFill>
              <a:srgbClr val="00A896"/>
            </a:solidFill>
            <a:prstDash val="solid"/>
          </a:ln>
        </p:spPr>
      </p:sp>
      <p:sp>
        <p:nvSpPr>
          <p:cNvPr id="4" name="Text 2"/>
          <p:cNvSpPr/>
          <p:nvPr/>
        </p:nvSpPr>
        <p:spPr>
          <a:xfrm>
            <a:off x="365760" y="91440"/>
            <a:ext cx="8229600" cy="6858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08  よくある質問 ＆ まとめ</a:t>
            </a:r>
            <a:endParaRPr lang="en-US" sz="2200" dirty="0"/>
          </a:p>
        </p:txBody>
      </p:sp>
      <p:sp>
        <p:nvSpPr>
          <p:cNvPr id="5" name="Shape 3"/>
          <p:cNvSpPr/>
          <p:nvPr/>
        </p:nvSpPr>
        <p:spPr>
          <a:xfrm>
            <a:off x="365760" y="1005840"/>
            <a:ext cx="4160520" cy="914400"/>
          </a:xfrm>
          <a:prstGeom prst="rect">
            <a:avLst/>
          </a:prstGeom>
          <a:solidFill>
            <a:srgbClr val="FFFFFF"/>
          </a:solidFill>
          <a:ln w="12700">
            <a:solidFill>
              <a:srgbClr val="C0D8DA"/>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65760" y="1005840"/>
            <a:ext cx="54864" cy="914400"/>
          </a:xfrm>
          <a:prstGeom prst="rect">
            <a:avLst/>
          </a:prstGeom>
          <a:solidFill>
            <a:srgbClr val="028090"/>
          </a:solidFill>
          <a:ln w="12700">
            <a:solidFill>
              <a:srgbClr val="028090"/>
            </a:solidFill>
            <a:prstDash val="solid"/>
          </a:ln>
        </p:spPr>
      </p:sp>
      <p:sp>
        <p:nvSpPr>
          <p:cNvPr id="7" name="Text 5"/>
          <p:cNvSpPr/>
          <p:nvPr/>
        </p:nvSpPr>
        <p:spPr>
          <a:xfrm>
            <a:off x="502920" y="1069848"/>
            <a:ext cx="3886200" cy="274320"/>
          </a:xfrm>
          <a:prstGeom prst="rect">
            <a:avLst/>
          </a:prstGeom>
          <a:noFill/>
          <a:ln/>
        </p:spPr>
        <p:txBody>
          <a:bodyPr wrap="square" rtlCol="0" anchor="ctr"/>
          <a:lstStyle/>
          <a:p>
            <a:pPr indent="0" marL="0">
              <a:buNone/>
            </a:pPr>
            <a:r>
              <a:rPr lang="en-US" sz="1100" b="1" dirty="0">
                <a:solidFill>
                  <a:srgbClr val="0D3B45"/>
                </a:solidFill>
                <a:latin typeface="Meiryo" pitchFamily="34" charset="0"/>
                <a:ea typeface="Meiryo" pitchFamily="34" charset="-122"/>
                <a:cs typeface="Meiryo" pitchFamily="34" charset="-120"/>
              </a:rPr>
              <a:t>Q. 地代は突然値上がりする？</a:t>
            </a:r>
            <a:endParaRPr lang="en-US" sz="1100" dirty="0"/>
          </a:p>
        </p:txBody>
      </p:sp>
      <p:sp>
        <p:nvSpPr>
          <p:cNvPr id="8" name="Text 6"/>
          <p:cNvSpPr/>
          <p:nvPr/>
        </p:nvSpPr>
        <p:spPr>
          <a:xfrm>
            <a:off x="502920" y="1389888"/>
            <a:ext cx="3886200" cy="457200"/>
          </a:xfrm>
          <a:prstGeom prst="rect">
            <a:avLst/>
          </a:prstGeom>
          <a:noFill/>
          <a:ln/>
        </p:spPr>
        <p:txBody>
          <a:bodyPr wrap="square" rtlCol="0" anchor="ctr"/>
          <a:lstStyle/>
          <a:p>
            <a:pPr indent="0" marL="0">
              <a:buNone/>
            </a:pPr>
            <a:r>
              <a:rPr lang="en-US" sz="1000" dirty="0">
                <a:solidFill>
                  <a:srgbClr val="5E7C7C"/>
                </a:solidFill>
                <a:latin typeface="Meiryo" pitchFamily="34" charset="0"/>
                <a:ea typeface="Meiryo" pitchFamily="34" charset="-122"/>
                <a:cs typeface="Meiryo" pitchFamily="34" charset="-120"/>
              </a:rPr>
              <a:t>A. 3年ごとに固都税の増減に連動して改定。大幅値上げを防ぐ仕組みが契約書にあり。</a:t>
            </a:r>
            <a:endParaRPr lang="en-US" sz="1000" dirty="0"/>
          </a:p>
        </p:txBody>
      </p:sp>
      <p:sp>
        <p:nvSpPr>
          <p:cNvPr id="9" name="Shape 7"/>
          <p:cNvSpPr/>
          <p:nvPr/>
        </p:nvSpPr>
        <p:spPr>
          <a:xfrm>
            <a:off x="4754880" y="1005840"/>
            <a:ext cx="4160520" cy="914400"/>
          </a:xfrm>
          <a:prstGeom prst="rect">
            <a:avLst/>
          </a:prstGeom>
          <a:solidFill>
            <a:srgbClr val="FFFFFF"/>
          </a:solidFill>
          <a:ln w="12700">
            <a:solidFill>
              <a:srgbClr val="C0D8DA"/>
            </a:solidFill>
            <a:prstDash val="solid"/>
          </a:ln>
          <a:effectLst>
            <a:outerShdw sx="100000" sy="100000" kx="0" ky="0" algn="bl" rotWithShape="0" blurRad="101600" dist="38100" dir="8100000">
              <a:srgbClr val="000000">
                <a:alpha val="10000"/>
              </a:srgbClr>
            </a:outerShdw>
          </a:effectLst>
        </p:spPr>
      </p:sp>
      <p:sp>
        <p:nvSpPr>
          <p:cNvPr id="10" name="Shape 8"/>
          <p:cNvSpPr/>
          <p:nvPr/>
        </p:nvSpPr>
        <p:spPr>
          <a:xfrm>
            <a:off x="4754880" y="1005840"/>
            <a:ext cx="54864" cy="914400"/>
          </a:xfrm>
          <a:prstGeom prst="rect">
            <a:avLst/>
          </a:prstGeom>
          <a:solidFill>
            <a:srgbClr val="028090"/>
          </a:solidFill>
          <a:ln w="12700">
            <a:solidFill>
              <a:srgbClr val="028090"/>
            </a:solidFill>
            <a:prstDash val="solid"/>
          </a:ln>
        </p:spPr>
      </p:sp>
      <p:sp>
        <p:nvSpPr>
          <p:cNvPr id="11" name="Text 9"/>
          <p:cNvSpPr/>
          <p:nvPr/>
        </p:nvSpPr>
        <p:spPr>
          <a:xfrm>
            <a:off x="4892040" y="1069848"/>
            <a:ext cx="3886200" cy="274320"/>
          </a:xfrm>
          <a:prstGeom prst="rect">
            <a:avLst/>
          </a:prstGeom>
          <a:noFill/>
          <a:ln/>
        </p:spPr>
        <p:txBody>
          <a:bodyPr wrap="square" rtlCol="0" anchor="ctr"/>
          <a:lstStyle/>
          <a:p>
            <a:pPr indent="0" marL="0">
              <a:buNone/>
            </a:pPr>
            <a:r>
              <a:rPr lang="en-US" sz="1100" b="1" dirty="0">
                <a:solidFill>
                  <a:srgbClr val="0D3B45"/>
                </a:solidFill>
                <a:latin typeface="Meiryo" pitchFamily="34" charset="0"/>
                <a:ea typeface="Meiryo" pitchFamily="34" charset="-122"/>
                <a:cs typeface="Meiryo" pitchFamily="34" charset="-120"/>
              </a:rPr>
              <a:t>Q. 残存年数が短くなったら売れない？</a:t>
            </a:r>
            <a:endParaRPr lang="en-US" sz="1100" dirty="0"/>
          </a:p>
        </p:txBody>
      </p:sp>
      <p:sp>
        <p:nvSpPr>
          <p:cNvPr id="12" name="Text 10"/>
          <p:cNvSpPr/>
          <p:nvPr/>
        </p:nvSpPr>
        <p:spPr>
          <a:xfrm>
            <a:off x="4892040" y="1389888"/>
            <a:ext cx="3886200" cy="457200"/>
          </a:xfrm>
          <a:prstGeom prst="rect">
            <a:avLst/>
          </a:prstGeom>
          <a:noFill/>
          <a:ln/>
        </p:spPr>
        <p:txBody>
          <a:bodyPr wrap="square" rtlCol="0" anchor="ctr"/>
          <a:lstStyle/>
          <a:p>
            <a:pPr indent="0" marL="0">
              <a:buNone/>
            </a:pPr>
            <a:r>
              <a:rPr lang="en-US" sz="1000" dirty="0">
                <a:solidFill>
                  <a:srgbClr val="5E7C7C"/>
                </a:solidFill>
                <a:latin typeface="Meiryo" pitchFamily="34" charset="0"/>
                <a:ea typeface="Meiryo" pitchFamily="34" charset="-122"/>
                <a:cs typeface="Meiryo" pitchFamily="34" charset="-120"/>
              </a:rPr>
              <a:t>A. 残存20〜30年以下では流通性が下がる傾向。長めの残存年数物件を選ぶことが重要。</a:t>
            </a:r>
            <a:endParaRPr lang="en-US" sz="1000" dirty="0"/>
          </a:p>
        </p:txBody>
      </p:sp>
      <p:sp>
        <p:nvSpPr>
          <p:cNvPr id="13" name="Shape 11"/>
          <p:cNvSpPr/>
          <p:nvPr/>
        </p:nvSpPr>
        <p:spPr>
          <a:xfrm>
            <a:off x="365760" y="2011680"/>
            <a:ext cx="4160520" cy="914400"/>
          </a:xfrm>
          <a:prstGeom prst="rect">
            <a:avLst/>
          </a:prstGeom>
          <a:solidFill>
            <a:srgbClr val="FFFFFF"/>
          </a:solidFill>
          <a:ln w="12700">
            <a:solidFill>
              <a:srgbClr val="C0D8DA"/>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365760" y="2011680"/>
            <a:ext cx="54864" cy="914400"/>
          </a:xfrm>
          <a:prstGeom prst="rect">
            <a:avLst/>
          </a:prstGeom>
          <a:solidFill>
            <a:srgbClr val="028090"/>
          </a:solidFill>
          <a:ln w="12700">
            <a:solidFill>
              <a:srgbClr val="028090"/>
            </a:solidFill>
            <a:prstDash val="solid"/>
          </a:ln>
        </p:spPr>
      </p:sp>
      <p:sp>
        <p:nvSpPr>
          <p:cNvPr id="15" name="Text 13"/>
          <p:cNvSpPr/>
          <p:nvPr/>
        </p:nvSpPr>
        <p:spPr>
          <a:xfrm>
            <a:off x="502920" y="2075688"/>
            <a:ext cx="3886200" cy="274320"/>
          </a:xfrm>
          <a:prstGeom prst="rect">
            <a:avLst/>
          </a:prstGeom>
          <a:noFill/>
          <a:ln/>
        </p:spPr>
        <p:txBody>
          <a:bodyPr wrap="square" rtlCol="0" anchor="ctr"/>
          <a:lstStyle/>
          <a:p>
            <a:pPr indent="0" marL="0">
              <a:buNone/>
            </a:pPr>
            <a:r>
              <a:rPr lang="en-US" sz="1100" b="1" dirty="0">
                <a:solidFill>
                  <a:srgbClr val="0D3B45"/>
                </a:solidFill>
                <a:latin typeface="Meiryo" pitchFamily="34" charset="0"/>
                <a:ea typeface="Meiryo" pitchFamily="34" charset="-122"/>
                <a:cs typeface="Meiryo" pitchFamily="34" charset="-120"/>
              </a:rPr>
              <a:t>Q. 子供に相続できる？</a:t>
            </a:r>
            <a:endParaRPr lang="en-US" sz="1100" dirty="0"/>
          </a:p>
        </p:txBody>
      </p:sp>
      <p:sp>
        <p:nvSpPr>
          <p:cNvPr id="16" name="Text 14"/>
          <p:cNvSpPr/>
          <p:nvPr/>
        </p:nvSpPr>
        <p:spPr>
          <a:xfrm>
            <a:off x="502920" y="2395728"/>
            <a:ext cx="3886200" cy="457200"/>
          </a:xfrm>
          <a:prstGeom prst="rect">
            <a:avLst/>
          </a:prstGeom>
          <a:noFill/>
          <a:ln/>
        </p:spPr>
        <p:txBody>
          <a:bodyPr wrap="square" rtlCol="0" anchor="ctr"/>
          <a:lstStyle/>
          <a:p>
            <a:pPr indent="0" marL="0">
              <a:buNone/>
            </a:pPr>
            <a:r>
              <a:rPr lang="en-US" sz="1000" dirty="0">
                <a:solidFill>
                  <a:srgbClr val="5E7C7C"/>
                </a:solidFill>
                <a:latin typeface="Meiryo" pitchFamily="34" charset="0"/>
                <a:ea typeface="Meiryo" pitchFamily="34" charset="-122"/>
                <a:cs typeface="Meiryo" pitchFamily="34" charset="-120"/>
              </a:rPr>
              <a:t>A. 可能。相続後は速やかに地主への通知が必要。残存年数は引き継がれる。</a:t>
            </a:r>
            <a:endParaRPr lang="en-US" sz="1000" dirty="0"/>
          </a:p>
        </p:txBody>
      </p:sp>
      <p:sp>
        <p:nvSpPr>
          <p:cNvPr id="17" name="Shape 15"/>
          <p:cNvSpPr/>
          <p:nvPr/>
        </p:nvSpPr>
        <p:spPr>
          <a:xfrm>
            <a:off x="4754880" y="2011680"/>
            <a:ext cx="4160520" cy="914400"/>
          </a:xfrm>
          <a:prstGeom prst="rect">
            <a:avLst/>
          </a:prstGeom>
          <a:solidFill>
            <a:srgbClr val="FFFFFF"/>
          </a:solidFill>
          <a:ln w="12700">
            <a:solidFill>
              <a:srgbClr val="C0D8DA"/>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4754880" y="2011680"/>
            <a:ext cx="54864" cy="914400"/>
          </a:xfrm>
          <a:prstGeom prst="rect">
            <a:avLst/>
          </a:prstGeom>
          <a:solidFill>
            <a:srgbClr val="028090"/>
          </a:solidFill>
          <a:ln w="12700">
            <a:solidFill>
              <a:srgbClr val="028090"/>
            </a:solidFill>
            <a:prstDash val="solid"/>
          </a:ln>
        </p:spPr>
      </p:sp>
      <p:sp>
        <p:nvSpPr>
          <p:cNvPr id="19" name="Text 17"/>
          <p:cNvSpPr/>
          <p:nvPr/>
        </p:nvSpPr>
        <p:spPr>
          <a:xfrm>
            <a:off x="4892040" y="2075688"/>
            <a:ext cx="3886200" cy="274320"/>
          </a:xfrm>
          <a:prstGeom prst="rect">
            <a:avLst/>
          </a:prstGeom>
          <a:noFill/>
          <a:ln/>
        </p:spPr>
        <p:txBody>
          <a:bodyPr wrap="square" rtlCol="0" anchor="ctr"/>
          <a:lstStyle/>
          <a:p>
            <a:pPr indent="0" marL="0">
              <a:buNone/>
            </a:pPr>
            <a:r>
              <a:rPr lang="en-US" sz="1100" b="1" dirty="0">
                <a:solidFill>
                  <a:srgbClr val="0D3B45"/>
                </a:solidFill>
                <a:latin typeface="Meiryo" pitchFamily="34" charset="0"/>
                <a:ea typeface="Meiryo" pitchFamily="34" charset="-122"/>
                <a:cs typeface="Meiryo" pitchFamily="34" charset="-120"/>
              </a:rPr>
              <a:t>Q. リフォームはできる？</a:t>
            </a:r>
            <a:endParaRPr lang="en-US" sz="1100" dirty="0"/>
          </a:p>
        </p:txBody>
      </p:sp>
      <p:sp>
        <p:nvSpPr>
          <p:cNvPr id="20" name="Text 18"/>
          <p:cNvSpPr/>
          <p:nvPr/>
        </p:nvSpPr>
        <p:spPr>
          <a:xfrm>
            <a:off x="4892040" y="2395728"/>
            <a:ext cx="3886200" cy="457200"/>
          </a:xfrm>
          <a:prstGeom prst="rect">
            <a:avLst/>
          </a:prstGeom>
          <a:noFill/>
          <a:ln/>
        </p:spPr>
        <p:txBody>
          <a:bodyPr wrap="square" rtlCol="0" anchor="ctr"/>
          <a:lstStyle/>
          <a:p>
            <a:pPr indent="0" marL="0">
              <a:buNone/>
            </a:pPr>
            <a:r>
              <a:rPr lang="en-US" sz="1000" dirty="0">
                <a:solidFill>
                  <a:srgbClr val="5E7C7C"/>
                </a:solidFill>
                <a:latin typeface="Meiryo" pitchFamily="34" charset="0"/>
                <a:ea typeface="Meiryo" pitchFamily="34" charset="-122"/>
                <a:cs typeface="Meiryo" pitchFamily="34" charset="-120"/>
              </a:rPr>
              <a:t>A. 可能。ただし借地権の存続期間を超えた大規模リフォームは実質的意味が薄くなることに注意。</a:t>
            </a:r>
            <a:endParaRPr lang="en-US" sz="1000" dirty="0"/>
          </a:p>
        </p:txBody>
      </p:sp>
      <p:sp>
        <p:nvSpPr>
          <p:cNvPr id="21" name="Shape 19"/>
          <p:cNvSpPr/>
          <p:nvPr/>
        </p:nvSpPr>
        <p:spPr>
          <a:xfrm>
            <a:off x="365760" y="3154680"/>
            <a:ext cx="8412480" cy="1554480"/>
          </a:xfrm>
          <a:prstGeom prst="rect">
            <a:avLst/>
          </a:prstGeom>
          <a:solidFill>
            <a:srgbClr val="0D3B45"/>
          </a:solidFill>
          <a:ln w="12700">
            <a:solidFill>
              <a:srgbClr val="0D3B45"/>
            </a:solidFill>
            <a:prstDash val="solid"/>
          </a:ln>
          <a:effectLst>
            <a:outerShdw sx="100000" sy="100000" kx="0" ky="0" algn="bl" rotWithShape="0" blurRad="101600" dist="38100" dir="8100000">
              <a:srgbClr val="000000">
                <a:alpha val="10000"/>
              </a:srgbClr>
            </a:outerShdw>
          </a:effectLst>
        </p:spPr>
      </p:sp>
      <p:sp>
        <p:nvSpPr>
          <p:cNvPr id="22" name="Text 20"/>
          <p:cNvSpPr/>
          <p:nvPr/>
        </p:nvSpPr>
        <p:spPr>
          <a:xfrm>
            <a:off x="548640" y="3218688"/>
            <a:ext cx="8229600" cy="347472"/>
          </a:xfrm>
          <a:prstGeom prst="rect">
            <a:avLst/>
          </a:prstGeom>
          <a:noFill/>
          <a:ln/>
        </p:spPr>
        <p:txBody>
          <a:bodyPr wrap="square" rtlCol="0" anchor="ctr"/>
          <a:lstStyle/>
          <a:p>
            <a:pPr indent="0" marL="0">
              <a:buNone/>
            </a:pPr>
            <a:r>
              <a:rPr lang="en-US" sz="1400" b="1" dirty="0">
                <a:solidFill>
                  <a:srgbClr val="00A896"/>
                </a:solidFill>
                <a:latin typeface="Meiryo" pitchFamily="34" charset="0"/>
                <a:ea typeface="Meiryo" pitchFamily="34" charset="-122"/>
                <a:cs typeface="Meiryo" pitchFamily="34" charset="-120"/>
              </a:rPr>
              <a:t>購入前のチェックリスト</a:t>
            </a:r>
            <a:endParaRPr lang="en-US" sz="1400" dirty="0"/>
          </a:p>
        </p:txBody>
      </p:sp>
      <p:sp>
        <p:nvSpPr>
          <p:cNvPr id="23" name="Text 21"/>
          <p:cNvSpPr/>
          <p:nvPr/>
        </p:nvSpPr>
        <p:spPr>
          <a:xfrm>
            <a:off x="548640" y="3611880"/>
            <a:ext cx="8229600" cy="1005840"/>
          </a:xfrm>
          <a:prstGeom prst="rect">
            <a:avLst/>
          </a:prstGeom>
          <a:noFill/>
          <a:ln/>
        </p:spPr>
        <p:txBody>
          <a:bodyPr wrap="square" rtlCol="0" anchor="ctr"/>
          <a:lstStyle/>
          <a:p>
            <a:pPr indent="0" marL="0">
              <a:spcAft>
                <a:spcPts val="300"/>
              </a:spcAft>
              <a:buNone/>
            </a:pPr>
            <a:r>
              <a:rPr lang="en-US" sz="1100" dirty="0">
                <a:solidFill>
                  <a:srgbClr val="CCEEEE"/>
                </a:solidFill>
                <a:latin typeface="Meiryo" pitchFamily="34" charset="0"/>
                <a:ea typeface="Meiryo" pitchFamily="34" charset="-122"/>
                <a:cs typeface="Meiryo" pitchFamily="34" charset="-120"/>
              </a:rPr>
              <a:t>□ 残存年数を確認（何年？居住計画に合っているか？）</a:t>
            </a:r>
            <a:endParaRPr lang="en-US" sz="1100" dirty="0"/>
          </a:p>
          <a:p>
            <a:pPr indent="0" marL="0">
              <a:spcAft>
                <a:spcPts val="300"/>
              </a:spcAft>
              <a:buNone/>
            </a:pPr>
            <a:r>
              <a:rPr lang="en-US" sz="1100" dirty="0">
                <a:solidFill>
                  <a:srgbClr val="CCEEEE"/>
                </a:solidFill>
                <a:latin typeface="Meiryo" pitchFamily="34" charset="0"/>
                <a:ea typeface="Meiryo" pitchFamily="34" charset="-122"/>
                <a:cs typeface="Meiryo" pitchFamily="34" charset="-120"/>
              </a:rPr>
              <a:t>□ 月々の地代・解体積立金の合計額を試算した</a:t>
            </a:r>
            <a:endParaRPr lang="en-US" sz="1100" dirty="0"/>
          </a:p>
          <a:p>
            <a:pPr indent="0" marL="0">
              <a:spcAft>
                <a:spcPts val="300"/>
              </a:spcAft>
              <a:buNone/>
            </a:pPr>
            <a:r>
              <a:rPr lang="en-US" sz="1100" dirty="0">
                <a:solidFill>
                  <a:srgbClr val="CCEEEE"/>
                </a:solidFill>
                <a:latin typeface="Meiryo" pitchFamily="34" charset="0"/>
                <a:ea typeface="Meiryo" pitchFamily="34" charset="-122"/>
                <a:cs typeface="Meiryo" pitchFamily="34" charset="-120"/>
              </a:rPr>
              <a:t>□ 借地権の種類（地上権 or 賃借権）を確認した</a:t>
            </a:r>
            <a:endParaRPr lang="en-US" sz="1100" dirty="0"/>
          </a:p>
          <a:p>
            <a:pPr indent="0" marL="0">
              <a:spcAft>
                <a:spcPts val="300"/>
              </a:spcAft>
              <a:buNone/>
            </a:pPr>
            <a:r>
              <a:rPr lang="en-US" sz="1100" dirty="0">
                <a:solidFill>
                  <a:srgbClr val="CCEEEE"/>
                </a:solidFill>
                <a:latin typeface="Meiryo" pitchFamily="34" charset="0"/>
                <a:ea typeface="Meiryo" pitchFamily="34" charset="-122"/>
                <a:cs typeface="Meiryo" pitchFamily="34" charset="-120"/>
              </a:rPr>
              <a:t>□ 住宅ローンの事前審査を受けた</a:t>
            </a:r>
            <a:endParaRPr lang="en-US" sz="1100" dirty="0"/>
          </a:p>
          <a:p>
            <a:pPr indent="0" marL="0">
              <a:spcAft>
                <a:spcPts val="300"/>
              </a:spcAft>
              <a:buNone/>
            </a:pPr>
            <a:r>
              <a:rPr lang="en-US" sz="1100" dirty="0">
                <a:solidFill>
                  <a:srgbClr val="CCEEEE"/>
                </a:solidFill>
                <a:latin typeface="Meiryo" pitchFamily="34" charset="0"/>
                <a:ea typeface="Meiryo" pitchFamily="34" charset="-122"/>
                <a:cs typeface="Meiryo" pitchFamily="34" charset="-120"/>
              </a:rPr>
              <a:t>□ 定借ナビで残存年数別の資産価値推移を確認した</a:t>
            </a:r>
            <a:endParaRPr lang="en-US" sz="1100" dirty="0"/>
          </a:p>
        </p:txBody>
      </p:sp>
      <p:sp>
        <p:nvSpPr>
          <p:cNvPr id="24" name="Shape 22"/>
          <p:cNvSpPr/>
          <p:nvPr/>
        </p:nvSpPr>
        <p:spPr>
          <a:xfrm>
            <a:off x="365760" y="4754880"/>
            <a:ext cx="8412480" cy="274320"/>
          </a:xfrm>
          <a:prstGeom prst="rect">
            <a:avLst/>
          </a:prstGeom>
          <a:solidFill>
            <a:srgbClr val="028090">
              <a:alpha val="12000"/>
            </a:srgbClr>
          </a:solidFill>
          <a:ln w="12700">
            <a:solidFill>
              <a:srgbClr val="028090">
                <a:alpha val="30000"/>
              </a:srgbClr>
            </a:solidFill>
            <a:prstDash val="solid"/>
          </a:ln>
        </p:spPr>
      </p:sp>
      <p:sp>
        <p:nvSpPr>
          <p:cNvPr id="25" name="Text 23"/>
          <p:cNvSpPr/>
          <p:nvPr/>
        </p:nvSpPr>
        <p:spPr>
          <a:xfrm>
            <a:off x="502920" y="4782312"/>
            <a:ext cx="8229600" cy="219456"/>
          </a:xfrm>
          <a:prstGeom prst="rect">
            <a:avLst/>
          </a:prstGeom>
          <a:noFill/>
          <a:ln/>
        </p:spPr>
        <p:txBody>
          <a:bodyPr wrap="square" rtlCol="0" anchor="ctr"/>
          <a:lstStyle/>
          <a:p>
            <a:pPr algn="ctr" indent="0" marL="0">
              <a:buNone/>
            </a:pPr>
            <a:r>
              <a:rPr lang="en-US" sz="1000" dirty="0">
                <a:solidFill>
                  <a:srgbClr val="028090"/>
                </a:solidFill>
                <a:latin typeface="Meiryo" pitchFamily="34" charset="0"/>
                <a:ea typeface="Meiryo" pitchFamily="34" charset="-122"/>
                <a:cs typeface="Meiryo" pitchFamily="34" charset="-120"/>
              </a:rPr>
              <a:t>定借ナビで実際の取引データを確認 → https://teisha-navi.vercel.app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定期借地権付マンション 購入ガイド</dc:title>
  <dc:subject>PptxGenJS Presentation</dc:subject>
  <dc:creator>PptxGenJS</dc:creator>
  <cp:lastModifiedBy>PptxGenJS</cp:lastModifiedBy>
  <cp:revision>1</cp:revision>
  <dcterms:created xsi:type="dcterms:W3CDTF">2026-06-07T05:36:29Z</dcterms:created>
  <dcterms:modified xsi:type="dcterms:W3CDTF">2026-06-07T05:36:29Z</dcterms:modified>
</cp:coreProperties>
</file>
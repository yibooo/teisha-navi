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2D6CC0">
              <a:alpha val="30000"/>
            </a:srgbClr>
          </a:solidFill>
          <a:ln w="12700">
            <a:solidFill>
              <a:srgbClr val="2D6CC0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731520"/>
            <a:ext cx="3200400" cy="320040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57200"/>
            <a:ext cx="54864" cy="41148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5486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不動産営業担当者向け セミナー資料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定期借地権付マンション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営業スキルアップ講座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85800" y="2743200"/>
            <a:ext cx="4572000" cy="45720"/>
          </a:xfrm>
          <a:prstGeom prst="rect">
            <a:avLst/>
          </a:prstGeom>
          <a:solidFill>
            <a:srgbClr val="CADCFC">
              <a:alpha val="60000"/>
            </a:srgbClr>
          </a:solidFill>
          <a:ln w="12700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8803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仕組みを理解して、お客様の不安を解消する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株式会社リボンブレインズ  澤地 塔一郎  |  NPO法人 首都圏定期借地借家権推進機構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本日のアジェンダ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4572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444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3258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定期借地権とは？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7373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法的定義・創設の背景・旧法との違い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23444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234440"/>
            <a:ext cx="4572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23444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94960" y="13258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権利の種類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94960" y="17373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地上権 vs 賃借権：実務上の重要な違い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42316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423160"/>
            <a:ext cx="4572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42316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25146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所有権との比較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29260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コスト・税金・ランニング費用の整理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242316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423160"/>
            <a:ext cx="4572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42316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94960" y="25146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よくある質問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94960" y="29260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顧客が必ず聞く10の質問と回答例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61188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611880"/>
            <a:ext cx="4572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61188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" y="37033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営業のポイント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4400" y="41148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成約につながる説明・反対意見への対応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61188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611880"/>
            <a:ext cx="4572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61188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94960" y="37033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有名物件事例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94960" y="41148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広尾GF・プラウド南麻布・パークコート渋谷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  定期借地権とは？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777240"/>
          </a:xfrm>
          <a:prstGeom prst="rect">
            <a:avLst/>
          </a:prstGeom>
          <a:solidFill>
            <a:srgbClr val="1E2761">
              <a:alpha val="9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430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借地借家法 第22条（平成4年8月1日施行）に定められた「更新のない」借地権。期間満了後は原則として建物を解体し、更地で地主に返還する。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965960"/>
          <a:ext cx="84124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34747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項目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旧法借地権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定期借地権（法22条）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CC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更新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可能（原則）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✗ 不可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存続期間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建物種類で30〜60年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50年以上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建物買取請求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あり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✗ なし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期間満了後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更新で継続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更地返還が原則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現在の主流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昭和〜平成初期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近年の分譲マンションに多い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4160520"/>
            <a:ext cx="8412480" cy="658368"/>
          </a:xfrm>
          <a:prstGeom prst="rect">
            <a:avLst/>
          </a:prstGeom>
          <a:solidFill>
            <a:srgbClr val="CADCFC">
              <a:alpha val="70000"/>
            </a:srgbClr>
          </a:solidFill>
          <a:ln w="12700">
            <a:solidFill>
              <a:srgbClr val="2D6CC0">
                <a:alpha val="4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420624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💡 ポイント：「定期」の名が示す通り、期間が確定している。更新がない分、地主が安心して土地を貸せる仕組み。それが好立地供給に繋がる。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  権利の種類：地上権 vs 賃借権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931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3931920" cy="502920"/>
          </a:xfrm>
          <a:prstGeom prst="rect">
            <a:avLst/>
          </a:prstGeom>
          <a:solidFill>
            <a:srgbClr val="2D6CC0"/>
          </a:solidFill>
          <a:ln w="12700">
            <a:solidFill>
              <a:srgbClr val="2D6C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地上権（物権）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民法上「物権」—強い権利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地主の承諾なしで売却・転貸可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地上権自体に抵当権設定可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登記請求権あり→第三者対抗力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住宅融資に有利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流通性が高い（近年の主流）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3931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97280"/>
            <a:ext cx="393192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1430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賃借権（債権）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0" y="173736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民法上「債権」—相対的な権利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売却・転貸には地主の承諾が必要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賃借権自体に抵当権設定不可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登記請求権なし（地主協力要）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転借地権はこの一種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NTT系・学校法人系物件に多い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4480560"/>
            <a:ext cx="841248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507992"/>
            <a:ext cx="8229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📋 実務メモ：契約書で「地上権」か「賃借権」かを必ず確認。融資・売却手続きが異なる。近年は地上権が主流。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  コスト構造：一時金・地代・ランニング費用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840480" cy="457200"/>
          </a:xfrm>
          <a:prstGeom prst="rect">
            <a:avLst/>
          </a:prstGeom>
          <a:solidFill>
            <a:srgbClr val="2D6CC0"/>
          </a:solidFill>
          <a:ln w="12700">
            <a:solidFill>
              <a:srgbClr val="2D6C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取得時コスト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3840480" cy="548640"/>
          </a:xfrm>
          <a:prstGeom prst="rect">
            <a:avLst/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002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分譲価格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建物＋権利金が含まれる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2402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権利金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4688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借地権設定の対価・返還なし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3840480" cy="548640"/>
          </a:xfrm>
          <a:prstGeom prst="rect">
            <a:avLst/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803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前払賃料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1089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地代の前払い分（物件による）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474720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5204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保証金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7490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担保目的・期間満了時に返還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1005840"/>
            <a:ext cx="3840480" cy="457200"/>
          </a:xfrm>
          <a:prstGeom prst="rect">
            <a:avLst/>
          </a:prstGeom>
          <a:solidFill>
            <a:srgbClr val="2D6CC0"/>
          </a:solidFill>
          <a:ln w="12700">
            <a:solidFill>
              <a:srgbClr val="2D6C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月々のランニングコスト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46320" y="1554480"/>
            <a:ext cx="3840480" cy="548640"/>
          </a:xfrm>
          <a:prstGeom prst="rect">
            <a:avLst/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16002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地代（賃料）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83480" y="18288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C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数千円〜数万円/月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40880" y="18288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固都税連動・3年毎改定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46320" y="2194560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22402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解体準備積立金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83480" y="24688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C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数千円/月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40880" y="24688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管理組合が積立・保全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46320" y="2834640"/>
            <a:ext cx="3840480" cy="548640"/>
          </a:xfrm>
          <a:prstGeom prst="rect">
            <a:avLst/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28803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管理費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83480" y="31089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C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一般マンションと同様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46320" y="3474720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3520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建物固都税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83480" y="3749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C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建物のみ（土地は地主）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040880" y="37490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土地分の節税に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4480560"/>
            <a:ext cx="8412480" cy="411480"/>
          </a:xfrm>
          <a:prstGeom prst="rect">
            <a:avLst/>
          </a:prstGeom>
          <a:solidFill>
            <a:srgbClr val="FFF3C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4507992"/>
            <a:ext cx="8229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3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顧客への説明ポイント：一時金と地代のバランスを物件ごとに確認。総支払額（累計）で所有権マンションと比較して見せると納得感が高い。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  税金の違い：所有権マンション vs 定借マンション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32918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税金の種類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所有権マンション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定借マンション（メリット）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CC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固定資産税・都市計画税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土地＋建物に課税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建物のみ ✅ 土地は地主負担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不動産取得税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土地＋建物に課税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建物のみ課税 ✅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登録免許税（権利移転）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土地＋建物に課税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地上権・建物（税率1/2軽減あり）✅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登録免許税（抵当権）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借入額ベースで課税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借入額ベース（同様）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住宅ローン控除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適用可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適用可（建物・借地権部分）✅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相続税評価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土地＋建物評価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建物＋定期借地権評価（残存年数反映）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480560"/>
            <a:ext cx="8412480" cy="411480"/>
          </a:xfrm>
          <a:prstGeom prst="rect">
            <a:avLst/>
          </a:prstGeom>
          <a:solidFill>
            <a:srgbClr val="CADCFC">
              <a:alpha val="80000"/>
            </a:srgbClr>
          </a:solidFill>
          <a:ln w="12700">
            <a:solidFill>
              <a:srgbClr val="2D6CC0">
                <a:alpha val="5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4507992"/>
            <a:ext cx="8229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💡 説明ポイント：「土地を所有しない＝土地の固都税負担ゼロ」が購入者の毎年のメリット。具体的な金額で示すと効果的。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  住宅ローン・融資の対応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2651760" cy="438912"/>
          </a:xfrm>
          <a:prstGeom prst="rect">
            <a:avLst/>
          </a:prstGeom>
          <a:solidFill>
            <a:srgbClr val="2D6CC0"/>
          </a:solidFill>
          <a:ln w="12700">
            <a:solidFill>
              <a:srgbClr val="2D6C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9786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フラット35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利用可能。定期借地権付き物件も対象。借地期間が返済期間をカバーすることが条件。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143000"/>
            <a:ext cx="2651760" cy="438912"/>
          </a:xfrm>
          <a:prstGeom prst="rect">
            <a:avLst/>
          </a:prstGeom>
          <a:solidFill>
            <a:srgbClr val="2D6CC0"/>
          </a:solidFill>
          <a:ln w="12700">
            <a:solidFill>
              <a:srgbClr val="2D6C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19786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提携銀行ローン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164592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多くの主要銀行で利用可能。地上権付き物件は担保設定がしやすく審査に有利。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114300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143000"/>
            <a:ext cx="2651760" cy="438912"/>
          </a:xfrm>
          <a:prstGeom prst="rect">
            <a:avLst/>
          </a:prstGeom>
          <a:solidFill>
            <a:srgbClr val="2D6CC0"/>
          </a:solidFill>
          <a:ln w="12700">
            <a:solidFill>
              <a:srgbClr val="2D6C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19786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💪 地上権物件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0" y="164592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地上権自体に抵当権設定が可能。融資条件が有利になりやすい。近年の主流。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78892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788920"/>
            <a:ext cx="2651760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84378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賃借権物件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329184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前払賃料返還請求権への質権設定が融資条件となるのが通例。金融機関への早期確認推奨。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278892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2788920"/>
            <a:ext cx="2651760" cy="4389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284378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📋 中古取引時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91840" y="329184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中古購入でも住宅ローン利用可能。ただし金融機関により残存年数・条件あり。事前確認必須。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35040" y="278892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2788920"/>
            <a:ext cx="2651760" cy="4389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284378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💰 住宅ローン控除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26480" y="329184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建物・借地権部分のローンに適用可。前払賃料相当分には適用不可のケースに注意。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  顧客からよくある質問 TOP10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2519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54864" cy="731520"/>
          </a:xfrm>
          <a:prstGeom prst="rect">
            <a:avLst/>
          </a:prstGeom>
          <a:solidFill>
            <a:srgbClr val="2D6CC0"/>
          </a:solidFill>
          <a:ln w="12700">
            <a:solidFill>
              <a:srgbClr val="2D6C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4241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Q1. なぜ定期借地権なの？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A. 地主が土地を手放さず収益化したいため。好立地供給の源泉。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42519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005840"/>
            <a:ext cx="54864" cy="731520"/>
          </a:xfrm>
          <a:prstGeom prst="rect">
            <a:avLst/>
          </a:prstGeom>
          <a:solidFill>
            <a:srgbClr val="2D6CC0"/>
          </a:solidFill>
          <a:ln w="12700">
            <a:solidFill>
              <a:srgbClr val="2D6C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04241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Q2. 住宅ローンは使える？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3258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A. フラット35・提携銀行ローン共に利用可。地上権は融資有利。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828800"/>
            <a:ext cx="42519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1828800"/>
            <a:ext cx="54864" cy="731520"/>
          </a:xfrm>
          <a:prstGeom prst="rect">
            <a:avLst/>
          </a:prstGeom>
          <a:solidFill>
            <a:srgbClr val="2D6CC0"/>
          </a:solidFill>
          <a:ln w="12700">
            <a:solidFill>
              <a:srgbClr val="2D6C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86537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Q3. 中古で売れる？値が下がる？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21488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A. 売却可能。残存年数が長い間は流通性あり。取引事例を提示。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1828800"/>
            <a:ext cx="42519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1828800"/>
            <a:ext cx="54864" cy="731520"/>
          </a:xfrm>
          <a:prstGeom prst="rect">
            <a:avLst/>
          </a:prstGeom>
          <a:solidFill>
            <a:srgbClr val="2D6CC0"/>
          </a:solidFill>
          <a:ln w="12700">
            <a:solidFill>
              <a:srgbClr val="2D6C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86537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Q4. 地代は突然上がる？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1488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A. 3年毎に固都税連動で改定。大幅値上げを防ぐ条項が契約書にあり。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651760"/>
            <a:ext cx="42519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651760"/>
            <a:ext cx="54864" cy="731520"/>
          </a:xfrm>
          <a:prstGeom prst="rect">
            <a:avLst/>
          </a:prstGeom>
          <a:solidFill>
            <a:srgbClr val="2D6CC0"/>
          </a:solidFill>
          <a:ln w="12700">
            <a:solidFill>
              <a:srgbClr val="2D6C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68833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Q5. 期間満了後はどうなる？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29718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A. 建物解体・更地返還。解体費用は積立金から。買取・更新なし。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2651760"/>
            <a:ext cx="42519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2651760"/>
            <a:ext cx="54864" cy="731520"/>
          </a:xfrm>
          <a:prstGeom prst="rect">
            <a:avLst/>
          </a:prstGeom>
          <a:solidFill>
            <a:srgbClr val="2D6CC0"/>
          </a:solidFill>
          <a:ln w="12700">
            <a:solidFill>
              <a:srgbClr val="2D6C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268833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Q6. 賃貸に出せる？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29718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A. 可能。ただし借地期間内終了が条件。残存10年以下は特別手続き必要。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474720"/>
            <a:ext cx="42519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474720"/>
            <a:ext cx="54864" cy="731520"/>
          </a:xfrm>
          <a:prstGeom prst="rect">
            <a:avLst/>
          </a:prstGeom>
          <a:solidFill>
            <a:srgbClr val="2D6CC0"/>
          </a:solidFill>
          <a:ln w="12700">
            <a:solidFill>
              <a:srgbClr val="2D6C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51129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Q7. 相続できる？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" y="37947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A. 可能。相続時は地主への通知要。相続税評価は残存年数を反映して算出。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0600" y="3474720"/>
            <a:ext cx="42519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0600" y="3474720"/>
            <a:ext cx="54864" cy="731520"/>
          </a:xfrm>
          <a:prstGeom prst="rect">
            <a:avLst/>
          </a:prstGeom>
          <a:solidFill>
            <a:srgbClr val="2D6CC0"/>
          </a:solidFill>
          <a:ln w="12700">
            <a:solidFill>
              <a:srgbClr val="2D6C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351129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Q8. 地主が変わったら？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37760" y="37947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A. 登記済なら新地主にも権利主張可。契約内容は引き継がれる。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4297680"/>
            <a:ext cx="42519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65760" y="4297680"/>
            <a:ext cx="54864" cy="731520"/>
          </a:xfrm>
          <a:prstGeom prst="rect">
            <a:avLst/>
          </a:prstGeom>
          <a:solidFill>
            <a:srgbClr val="2D6CC0"/>
          </a:solidFill>
          <a:ln w="12700">
            <a:solidFill>
              <a:srgbClr val="2D6CC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433425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Q9. 資産価値はある？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2920" y="46177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A. 残存年数が長ければ流通可能。取引事例・定借ナビのデータで説明。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00600" y="4297680"/>
            <a:ext cx="42519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00600" y="4297680"/>
            <a:ext cx="54864" cy="731520"/>
          </a:xfrm>
          <a:prstGeom prst="rect">
            <a:avLst/>
          </a:prstGeom>
          <a:solidFill>
            <a:srgbClr val="2D6CC0"/>
          </a:solidFill>
          <a:ln w="12700">
            <a:solidFill>
              <a:srgbClr val="2D6CC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0" y="433425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Q10. 所有権と比べてデメリットは？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937760" y="46177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A. ①期間制限 ②地代等のランニング ③残存年数低下で価値下落リスク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  営業のポイント・成約のコツ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594360"/>
          </a:xfrm>
          <a:prstGeom prst="rect">
            <a:avLst/>
          </a:prstGeom>
          <a:solidFill>
            <a:srgbClr val="1E2761">
              <a:alpha val="92000"/>
            </a:srgbClr>
          </a:solidFill>
          <a:ln w="12700">
            <a:solidFill>
              <a:srgbClr val="1E2761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515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基本姿勢：自信を持って説明する！お客様に不安を抱かせない。「定期借地権設定契約書」が憲法—参照して簡潔に。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8412480" cy="411480"/>
          </a:xfrm>
          <a:prstGeom prst="rect">
            <a:avLst/>
          </a:prstGeom>
          <a:solidFill>
            <a:srgbClr val="2D6CC0"/>
          </a:solidFill>
          <a:ln w="12700">
            <a:solidFill>
              <a:srgbClr val="2D6C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190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反対意見への対応チャート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176272"/>
            <a:ext cx="8412480" cy="384048"/>
          </a:xfrm>
          <a:prstGeom prst="rect">
            <a:avLst/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2402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C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「借地権が不安」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51760" y="2240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0" y="22402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旧法借地権との違いを明確に。法的安定性・登記で権利保護を説明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606040"/>
            <a:ext cx="8412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67004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C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「地代が不安」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51760" y="26700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26080" y="2670048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改定計算式を提示。固都税連動で安定。具体的な改定履歴を示す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035808"/>
            <a:ext cx="8412480" cy="384048"/>
          </a:xfrm>
          <a:prstGeom prst="rect">
            <a:avLst/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0998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C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「将来売れるか」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51760" y="30998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26080" y="3099816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中古取引事例を提示。残存年数が長い間は流通性十分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465576"/>
            <a:ext cx="8412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52958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C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「周囲に反対された」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651760" y="35295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926080" y="352958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周囲の反対はほぼ「知識不足」。データと事実を提供して解消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895344"/>
            <a:ext cx="8412480" cy="384048"/>
          </a:xfrm>
          <a:prstGeom prst="rect">
            <a:avLst/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9593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C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「競合物件の否定トーク」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51760" y="39593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926080" y="3959352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冷静に比較資料で対応。感情的にならず客観的に説明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434840"/>
            <a:ext cx="8412480" cy="475488"/>
          </a:xfrm>
          <a:prstGeom prst="rect">
            <a:avLst/>
          </a:prstGeom>
          <a:solidFill>
            <a:srgbClr val="CADCFC">
              <a:alpha val="80000"/>
            </a:srgbClr>
          </a:solidFill>
          <a:ln w="12700">
            <a:solidFill>
              <a:srgbClr val="2D6CC0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4805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📋 必ず準備：① 中古取引事例データ　② 周辺所有権との価格比較　③ 住宅ローン融資確認　④ 定期借地権設定契約書のポイント解説シート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  有名物件事例から学ぶ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65176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2651760" cy="457200"/>
          </a:xfrm>
          <a:prstGeom prst="rect">
            <a:avLst/>
          </a:prstGeom>
          <a:solidFill>
            <a:srgbClr val="2D6CC0"/>
          </a:solidFill>
          <a:ln w="12700">
            <a:solidFill>
              <a:srgbClr val="2D6C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78992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広尾ガーデンフォレスト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58191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📍 渋谷区  |  地主: 日本赤十字社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947672"/>
            <a:ext cx="411480" cy="201168"/>
          </a:xfrm>
          <a:prstGeom prst="rect">
            <a:avLst/>
          </a:prstGeom>
          <a:solidFill>
            <a:srgbClr val="2D6CC0"/>
          </a:solidFill>
          <a:ln w="12700">
            <a:solidFill>
              <a:srgbClr val="2D6C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56816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219456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日赤医療センター再整備事業の一環。住宅・医療・看護が複合した新しい街づくり。住医隣接サービス付きという希少性。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548640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43814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学び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3675888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好立地の公共系土地活用の好例。地主の社会的信頼性が顧客安心感に繋がる。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46120" y="1051560"/>
            <a:ext cx="265176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1051560"/>
            <a:ext cx="265176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1078992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プラウド南麻布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158191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📍 港区  |  地主: フランス大使館旧館跡地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37560" y="1947672"/>
            <a:ext cx="411480" cy="201168"/>
          </a:xfrm>
          <a:prstGeom prst="rect">
            <a:avLst/>
          </a:prstGeom>
          <a:solidFill>
            <a:srgbClr val="2D6CC0"/>
          </a:solidFill>
          <a:ln w="12700">
            <a:solidFill>
              <a:srgbClr val="2D6C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1956816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337560" y="219456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フランス大使館旧館跡地という希少な立地。荘厳な森に囲まれた環境。野村不動産開発。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37560" y="3429000"/>
            <a:ext cx="548640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343814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学び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337560" y="3675888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「土地は手放せないが収益化したい」という地主の需要が好立地を生む典型例。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1051560"/>
            <a:ext cx="265176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1051560"/>
            <a:ext cx="26517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1078992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パークコート渋谷ザタワー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17920" y="158191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📍 渋谷区・地上39階  |  地主: 渋谷区有地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17920" y="1947672"/>
            <a:ext cx="411480" cy="201168"/>
          </a:xfrm>
          <a:prstGeom prst="rect">
            <a:avLst/>
          </a:prstGeom>
          <a:solidFill>
            <a:srgbClr val="2D6CC0"/>
          </a:solidFill>
          <a:ln w="12700">
            <a:solidFill>
              <a:srgbClr val="2D6C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1956816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17920" y="219456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渋谷区の公共施設建替えに寄与。地代を販売価格に一括含む方式。借地期間約70年。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17920" y="3429000"/>
            <a:ext cx="548640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343814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学び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217920" y="3675888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公共施設跡地活用の好例。一時金を価格に含む構造は顧客説明を簡略化できる。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4572000" cy="4572000"/>
          </a:xfrm>
          <a:prstGeom prst="ellipse">
            <a:avLst/>
          </a:prstGeom>
          <a:solidFill>
            <a:srgbClr val="2D6CC0">
              <a:alpha val="25000"/>
            </a:srgbClr>
          </a:solidFill>
          <a:ln w="12700">
            <a:solidFill>
              <a:srgbClr val="2D6CC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069080" cy="109728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ADCFC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54864" cy="109728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97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定期借地権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44475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D5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平成4年創設。更新なし・期間満了で更地返還。好立地供給の源泉。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069080" cy="109728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ADCFC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005840"/>
            <a:ext cx="54864" cy="109728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097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権利の種類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44475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D5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地上権（物権・流通性高）vs 賃借権（承諾要）。近年は地上権が主流。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4069080" cy="109728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ADCFC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286000"/>
            <a:ext cx="54864" cy="109728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377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コスト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272491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D5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一時金（権利金等）＋月々の地代・解体積立金。総支払額で比較説明を。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286000"/>
            <a:ext cx="4069080" cy="109728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ADCFC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2286000"/>
            <a:ext cx="54864" cy="109728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377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税金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272491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D5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土地の固都税不要・不動産取得税軽減など税負担が有利。具体額で示す。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566160"/>
            <a:ext cx="4069080" cy="109728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ADCFC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566160"/>
            <a:ext cx="54864" cy="109728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657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融資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400507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D5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フラット35・提携銀行ローン利用可。地上権は融資に有利。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566160"/>
            <a:ext cx="4069080" cy="109728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ADCFC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3566160"/>
            <a:ext cx="54864" cy="109728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657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400507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D5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お客様の反対理由を特定→データで解消。中古事例・定借ナビを活用。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定借ナビ  https://teisha-navi.vercel.app  |  実取引データで資産価値を確認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定期借地権付マンション 営業スキルアップ講座</dc:title>
  <dc:subject>PptxGenJS Presentation</dc:subject>
  <dc:creator>PptxGenJS</dc:creator>
  <cp:lastModifiedBy>PptxGenJS</cp:lastModifiedBy>
  <cp:revision>1</cp:revision>
  <dcterms:created xsi:type="dcterms:W3CDTF">2026-06-07T05:37:44Z</dcterms:created>
  <dcterms:modified xsi:type="dcterms:W3CDTF">2026-06-07T05:37:44Z</dcterms:modified>
</cp:coreProperties>
</file>